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media/image2.svg" ContentType="image/svg+xml"/>
  <Override PartName="/ppt/media/image3.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59" r:id="rId5"/>
    <p:sldId id="271" r:id="rId6"/>
    <p:sldId id="270" r:id="rId7"/>
    <p:sldId id="272" r:id="rId26"/>
    <p:sldId id="260" r:id="rId8"/>
    <p:sldId id="261" r:id="rId9"/>
    <p:sldId id="262" r:id="rId10"/>
    <p:sldId id="263" r:id="rId11"/>
    <p:sldId id="264" r:id="rId12"/>
    <p:sldId id="265" r:id="rId13"/>
    <p:sldId id="266" r:id="rId14"/>
    <p:sldId id="267" r:id="rId15"/>
    <p:sldId id="268" r:id="rId16"/>
    <p:sldId id="269" r:id="rId17"/>
  </p:sldIdLst>
  <p:sldSz cx="18288000" cy="10287000"/>
  <p:notesSz cx="6858000" cy="9144000"/>
  <p:embeddedFontLst>
    <p:embeddedFont>
      <p:font typeface="Arimo" panose="020B0604020202020204" charset="0"/>
      <p:regular r:id="rId19"/>
    </p:embeddedFont>
    <p:embeddedFont>
      <p:font typeface="Assistant Bold" panose="020B0604020202020204" charset="-79"/>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8EF52A7-940D-5E3A-8102-2946CC687733}" name="madhu marrivada" initials="mm" userId="ac15ffc664f618d1"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8/10/relationships/authors" Target="authors.xml"/><Relationship Id="rId26"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7816CE-0FCE-4158-9558-06A6618861C4}" type="datetimeFigureOut">
              <a:rPr lang="en-US" smtClean="0"/>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A00534-BB28-4E67-BC96-446AA794E35E}" type="slidenum">
              <a:rPr lang="en-US" smtClean="0"/>
              <a:t>‹#›</a:t>
            </a:fld>
            <a:endParaRPr lang="en-US"/>
          </a:p>
        </p:txBody>
      </p:sp>
    </p:spTree>
    <p:extLst>
      <p:ext uri="{BB962C8B-B14F-4D97-AF65-F5344CB8AC3E}">
        <p14:creationId xmlns:p14="http://schemas.microsoft.com/office/powerpoint/2010/main" val="2028402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1A00534-BB28-4E67-BC96-446AA794E35E}" type="slidenum">
              <a:rPr lang="en-US" smtClean="0"/>
              <a:t>9</a:t>
            </a:fld>
            <a:endParaRPr lang="en-US"/>
          </a:p>
        </p:txBody>
      </p:sp>
    </p:spTree>
    <p:extLst>
      <p:ext uri="{BB962C8B-B14F-4D97-AF65-F5344CB8AC3E}">
        <p14:creationId xmlns:p14="http://schemas.microsoft.com/office/powerpoint/2010/main" val="2250381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svg"/><Relationship Id="rId4" Type="http://schemas.openxmlformats.org/officeDocument/2006/relationships/image" Target="../media/image3.svg"/><Relationship Id="rId5"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svg"/><Relationship Id="rId4" Type="http://schemas.openxmlformats.org/officeDocument/2006/relationships/image" Target="../media/image3.svg"/><Relationship Id="rId5" Type="http://schemas.openxmlformats.org/officeDocument/2006/relationships/image" Target="../media/image4.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svg"/><Relationship Id="rId4" Type="http://schemas.openxmlformats.org/officeDocument/2006/relationships/image" Target="../media/image3.svg"/><Relationship Id="rId5" Type="http://schemas.openxmlformats.org/officeDocument/2006/relationships/image" Target="../media/image4.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svg"/><Relationship Id="rId4" Type="http://schemas.openxmlformats.org/officeDocument/2006/relationships/image" Target="../media/image3.svg"/><Relationship Id="rId5" Type="http://schemas.openxmlformats.org/officeDocument/2006/relationships/image" Target="../media/image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svg"/><Relationship Id="rId4" Type="http://schemas.openxmlformats.org/officeDocument/2006/relationships/image" Target="../media/image3.svg"/><Relationship Id="rId5" Type="http://schemas.openxmlformats.org/officeDocument/2006/relationships/image" Target="../media/image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svg"/><Relationship Id="rId4" Type="http://schemas.openxmlformats.org/officeDocument/2006/relationships/image" Target="../media/image3.svg"/><Relationship Id="rId5" Type="http://schemas.openxmlformats.org/officeDocument/2006/relationships/image" Target="../media/image4.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svg"/><Relationship Id="rId5" Type="http://schemas.openxmlformats.org/officeDocument/2006/relationships/image" Target="../media/image3.svg"/><Relationship Id="rId6" Type="http://schemas.openxmlformats.org/officeDocument/2006/relationships/image" Target="../media/image4.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svg"/><Relationship Id="rId4" Type="http://schemas.openxmlformats.org/officeDocument/2006/relationships/image" Target="../media/image3.svg"/><Relationship Id="rId5" Type="http://schemas.openxmlformats.org/officeDocument/2006/relationships/image" Target="../media/image4.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svg"/><Relationship Id="rId4" Type="http://schemas.openxmlformats.org/officeDocument/2006/relationships/image" Target="../media/image3.svg"/><Relationship Id="rId5" Type="http://schemas.openxmlformats.org/officeDocument/2006/relationships/image" Target="../media/image4.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svg"/><Relationship Id="rId4" Type="http://schemas.openxmlformats.org/officeDocument/2006/relationships/image" Target="../media/image3.svg"/><Relationship Id="rId5" Type="http://schemas.openxmlformats.org/officeDocument/2006/relationships/image" Target="../media/image4.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svg"/><Relationship Id="rId4" Type="http://schemas.openxmlformats.org/officeDocument/2006/relationships/image" Target="../media/image3.svg"/><Relationship Id="rId5" Type="http://schemas.openxmlformats.org/officeDocument/2006/relationships/image" Target="../media/image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svg"/><Relationship Id="rId4" Type="http://schemas.openxmlformats.org/officeDocument/2006/relationships/image" Target="../media/image3.svg"/><Relationship Id="rId5" Type="http://schemas.openxmlformats.org/officeDocument/2006/relationships/image" Target="../media/image4.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svg"/><Relationship Id="rId4" Type="http://schemas.openxmlformats.org/officeDocument/2006/relationships/image" Target="../media/image3.svg"/><Relationship Id="rId5" Type="http://schemas.openxmlformats.org/officeDocument/2006/relationships/image" Target="../media/image4.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svg"/><Relationship Id="rId4" Type="http://schemas.openxmlformats.org/officeDocument/2006/relationships/image" Target="../media/image3.svg"/><Relationship Id="rId5" Type="http://schemas.openxmlformats.org/officeDocument/2006/relationships/image" Target="../media/image4.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8888" b="-88888"/>
            </a:stretch>
          </a:blipFill>
        </p:spPr>
        <p:txBody>
          <a:bodyPr/>
          <a:lstStyle/>
          <a:p>
            <a:r>
              <a:rPr lang="en-IN" dirty="0"/>
              <a:t>A</a:t>
            </a:r>
          </a:p>
        </p:txBody>
      </p:sp>
      <p:sp>
        <p:nvSpPr>
          <p:cNvPr id="3" name="Freeform 3"/>
          <p:cNvSpPr/>
          <p:nvPr/>
        </p:nvSpPr>
        <p:spPr>
          <a:xfrm flipV="1">
            <a:off x="-325158" y="7079335"/>
            <a:ext cx="18938317" cy="9779058"/>
          </a:xfrm>
          <a:custGeom>
            <a:avLst/>
            <a:gdLst/>
            <a:ahLst/>
            <a:cxnLst/>
            <a:rect l="l" t="t" r="r" b="b"/>
            <a:pathLst>
              <a:path w="18938317" h="9779058">
                <a:moveTo>
                  <a:pt x="0" y="9779058"/>
                </a:moveTo>
                <a:lnTo>
                  <a:pt x="18938316" y="9779058"/>
                </a:lnTo>
                <a:lnTo>
                  <a:pt x="18938316" y="0"/>
                </a:lnTo>
                <a:lnTo>
                  <a:pt x="0" y="0"/>
                </a:lnTo>
                <a:lnTo>
                  <a:pt x="0" y="9779058"/>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325158" y="-6571393"/>
            <a:ext cx="18938317" cy="9779058"/>
          </a:xfrm>
          <a:custGeom>
            <a:avLst/>
            <a:gdLst/>
            <a:ahLst/>
            <a:cxnLst/>
            <a:rect l="l" t="t" r="r" b="b"/>
            <a:pathLst>
              <a:path w="18938317" h="9779058">
                <a:moveTo>
                  <a:pt x="0" y="0"/>
                </a:moveTo>
                <a:lnTo>
                  <a:pt x="18938316" y="0"/>
                </a:lnTo>
                <a:lnTo>
                  <a:pt x="18938316" y="9779058"/>
                </a:lnTo>
                <a:lnTo>
                  <a:pt x="0" y="977905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6540620" y="2675354"/>
            <a:ext cx="1207047" cy="7200900"/>
          </a:xfrm>
          <a:custGeom>
            <a:avLst/>
            <a:gdLst/>
            <a:ahLst/>
            <a:cxnLst/>
            <a:rect l="l" t="t" r="r" b="b"/>
            <a:pathLst>
              <a:path w="1207047" h="7200900">
                <a:moveTo>
                  <a:pt x="0" y="0"/>
                </a:moveTo>
                <a:lnTo>
                  <a:pt x="1207048" y="0"/>
                </a:lnTo>
                <a:lnTo>
                  <a:pt x="1207048" y="7200900"/>
                </a:lnTo>
                <a:lnTo>
                  <a:pt x="0" y="72009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40332" y="410746"/>
            <a:ext cx="1207047" cy="7200900"/>
          </a:xfrm>
          <a:custGeom>
            <a:avLst/>
            <a:gdLst/>
            <a:ahLst/>
            <a:cxnLst/>
            <a:rect l="l" t="t" r="r" b="b"/>
            <a:pathLst>
              <a:path w="1207047" h="7200900">
                <a:moveTo>
                  <a:pt x="1207048" y="7200900"/>
                </a:moveTo>
                <a:lnTo>
                  <a:pt x="0" y="7200900"/>
                </a:lnTo>
                <a:lnTo>
                  <a:pt x="0" y="0"/>
                </a:lnTo>
                <a:lnTo>
                  <a:pt x="1207048" y="0"/>
                </a:lnTo>
                <a:lnTo>
                  <a:pt x="1207048" y="72009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540332" y="8946022"/>
            <a:ext cx="7315200" cy="624556"/>
          </a:xfrm>
          <a:custGeom>
            <a:avLst/>
            <a:gdLst/>
            <a:ahLst/>
            <a:cxnLst/>
            <a:rect l="l" t="t" r="r" b="b"/>
            <a:pathLst>
              <a:path w="7315200" h="624556">
                <a:moveTo>
                  <a:pt x="0" y="0"/>
                </a:moveTo>
                <a:lnTo>
                  <a:pt x="7315200" y="0"/>
                </a:lnTo>
                <a:lnTo>
                  <a:pt x="7315200" y="624556"/>
                </a:lnTo>
                <a:lnTo>
                  <a:pt x="0" y="62455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flipH="1">
            <a:off x="10432468" y="716422"/>
            <a:ext cx="7315200" cy="624556"/>
          </a:xfrm>
          <a:custGeom>
            <a:avLst/>
            <a:gdLst/>
            <a:ahLst/>
            <a:cxnLst/>
            <a:rect l="l" t="t" r="r" b="b"/>
            <a:pathLst>
              <a:path w="7315200" h="624556">
                <a:moveTo>
                  <a:pt x="7315200" y="0"/>
                </a:moveTo>
                <a:lnTo>
                  <a:pt x="0" y="0"/>
                </a:lnTo>
                <a:lnTo>
                  <a:pt x="0" y="624556"/>
                </a:lnTo>
                <a:lnTo>
                  <a:pt x="7315200" y="624556"/>
                </a:lnTo>
                <a:lnTo>
                  <a:pt x="731520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AutoShape 9"/>
          <p:cNvSpPr/>
          <p:nvPr/>
        </p:nvSpPr>
        <p:spPr>
          <a:xfrm flipV="1">
            <a:off x="1968398" y="1028700"/>
            <a:ext cx="9412889" cy="0"/>
          </a:xfrm>
          <a:prstGeom prst="line">
            <a:avLst/>
          </a:prstGeom>
          <a:ln w="19050" cap="flat">
            <a:solidFill>
              <a:srgbClr val="86EDFF"/>
            </a:solidFill>
            <a:prstDash val="solid"/>
            <a:headEnd type="none" w="sm" len="sm"/>
            <a:tailEnd type="none" w="sm" len="sm"/>
          </a:ln>
        </p:spPr>
      </p:sp>
      <p:sp>
        <p:nvSpPr>
          <p:cNvPr id="10" name="AutoShape 10"/>
          <p:cNvSpPr/>
          <p:nvPr/>
        </p:nvSpPr>
        <p:spPr>
          <a:xfrm>
            <a:off x="6906713" y="9258300"/>
            <a:ext cx="9412889" cy="0"/>
          </a:xfrm>
          <a:prstGeom prst="line">
            <a:avLst/>
          </a:prstGeom>
          <a:ln w="19050" cap="flat">
            <a:solidFill>
              <a:srgbClr val="86EDFF"/>
            </a:solidFill>
            <a:prstDash val="solid"/>
            <a:headEnd type="none" w="sm" len="sm"/>
            <a:tailEnd type="none" w="sm" len="sm"/>
          </a:ln>
        </p:spPr>
      </p:sp>
      <p:grpSp>
        <p:nvGrpSpPr>
          <p:cNvPr id="11" name="Group 11"/>
          <p:cNvGrpSpPr/>
          <p:nvPr/>
        </p:nvGrpSpPr>
        <p:grpSpPr>
          <a:xfrm>
            <a:off x="16259067" y="9197765"/>
            <a:ext cx="121069" cy="121069"/>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13" name="TextBox 13"/>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grpSp>
        <p:nvGrpSpPr>
          <p:cNvPr id="14" name="Group 14"/>
          <p:cNvGrpSpPr/>
          <p:nvPr/>
        </p:nvGrpSpPr>
        <p:grpSpPr>
          <a:xfrm>
            <a:off x="1907864" y="968165"/>
            <a:ext cx="121069" cy="12106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16" name="TextBox 16"/>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sp>
        <p:nvSpPr>
          <p:cNvPr id="17" name="TextBox 17"/>
          <p:cNvSpPr txBox="1"/>
          <p:nvPr/>
        </p:nvSpPr>
        <p:spPr>
          <a:xfrm>
            <a:off x="3100271" y="3821656"/>
            <a:ext cx="12087457" cy="790575"/>
          </a:xfrm>
          <a:prstGeom prst="rect">
            <a:avLst/>
          </a:prstGeom>
        </p:spPr>
        <p:txBody>
          <a:bodyPr lIns="0" tIns="0" rIns="0" bIns="0" rtlCol="0" anchor="t">
            <a:spAutoFit/>
          </a:bodyPr>
          <a:lstStyle/>
          <a:p>
            <a:pPr marL="0" lvl="0" indent="0" algn="ctr">
              <a:lnSpc>
                <a:spcPts val="6348"/>
              </a:lnSpc>
              <a:spcBef>
                <a:spcPct val="0"/>
              </a:spcBef>
            </a:pPr>
            <a:r>
              <a:rPr lang="en-US" sz="5290" b="1" spc="52" dirty="0">
                <a:solidFill>
                  <a:srgbClr val="FFFFFF"/>
                </a:solidFill>
                <a:latin typeface="Assistant Bold"/>
                <a:ea typeface="Assistant Bold"/>
                <a:cs typeface="Assistant Bold"/>
                <a:sym typeface="Assistant Bold"/>
              </a:rPr>
              <a:t>DESIGN COMPARISON</a:t>
            </a:r>
          </a:p>
        </p:txBody>
      </p:sp>
      <p:sp>
        <p:nvSpPr>
          <p:cNvPr id="18" name="TextBox 18"/>
          <p:cNvSpPr txBox="1"/>
          <p:nvPr/>
        </p:nvSpPr>
        <p:spPr>
          <a:xfrm>
            <a:off x="1747378" y="1838576"/>
            <a:ext cx="15200351" cy="2070823"/>
          </a:xfrm>
          <a:prstGeom prst="rect">
            <a:avLst/>
          </a:prstGeom>
        </p:spPr>
        <p:txBody>
          <a:bodyPr wrap="square" lIns="0" tIns="0" rIns="0" bIns="0" rtlCol="0" anchor="t">
            <a:spAutoFit/>
          </a:bodyPr>
          <a:lstStyle/>
          <a:p>
            <a:pPr marL="0" lvl="0" indent="0" algn="ctr">
              <a:lnSpc>
                <a:spcPts val="8196"/>
              </a:lnSpc>
              <a:spcBef>
                <a:spcPct val="0"/>
              </a:spcBef>
            </a:pPr>
            <a:r>
              <a:rPr lang="en-US" sz="6830" b="1" spc="204" dirty="0">
                <a:solidFill>
                  <a:srgbClr val="FFFFFF"/>
                </a:solidFill>
                <a:latin typeface="Assistant Bold"/>
                <a:ea typeface="Assistant Bold"/>
                <a:cs typeface="Assistant Bold"/>
                <a:sym typeface="Assistant Bold"/>
              </a:rPr>
              <a:t>AZURE LOAD BALANCER </a:t>
            </a:r>
            <a:r>
              <a:rPr lang="en-US" sz="7200" b="1" spc="204" dirty="0">
                <a:solidFill>
                  <a:srgbClr val="FFFFFF"/>
                </a:solidFill>
                <a:latin typeface="Assistant Bold"/>
                <a:ea typeface="Assistant Bold"/>
                <a:cs typeface="Assistant Bold"/>
                <a:sym typeface="Assistant Bold"/>
              </a:rPr>
              <a:t>VERSUS</a:t>
            </a:r>
          </a:p>
          <a:p>
            <a:pPr marL="0" lvl="0" indent="0" algn="ctr">
              <a:lnSpc>
                <a:spcPts val="8196"/>
              </a:lnSpc>
              <a:spcBef>
                <a:spcPct val="0"/>
              </a:spcBef>
            </a:pPr>
            <a:r>
              <a:rPr lang="en-US" sz="6830" b="1" spc="204" dirty="0">
                <a:solidFill>
                  <a:srgbClr val="FFFFFF"/>
                </a:solidFill>
                <a:latin typeface="Assistant Bold"/>
                <a:ea typeface="Assistant Bold"/>
                <a:cs typeface="Assistant Bold"/>
                <a:sym typeface="Assistant Bold"/>
              </a:rPr>
              <a:t>APPLICATION GATEWAY</a:t>
            </a:r>
          </a:p>
        </p:txBody>
      </p:sp>
      <p:sp>
        <p:nvSpPr>
          <p:cNvPr id="19" name="TextBox 19"/>
          <p:cNvSpPr txBox="1"/>
          <p:nvPr/>
        </p:nvSpPr>
        <p:spPr>
          <a:xfrm>
            <a:off x="2369132" y="5870070"/>
            <a:ext cx="3657600" cy="2154436"/>
          </a:xfrm>
          <a:prstGeom prst="rect">
            <a:avLst/>
          </a:prstGeom>
        </p:spPr>
        <p:txBody>
          <a:bodyPr wrap="square" lIns="0" tIns="0" rIns="0" bIns="0" rtlCol="0" anchor="t">
            <a:spAutoFit/>
          </a:bodyPr>
          <a:lstStyle/>
          <a:p>
            <a:pPr marL="0" lvl="0" indent="0" algn="ctr">
              <a:lnSpc>
                <a:spcPts val="2432"/>
              </a:lnSpc>
              <a:spcBef>
                <a:spcPct val="0"/>
              </a:spcBef>
            </a:pPr>
            <a:r>
              <a:rPr lang="en-US" sz="4000" b="1" spc="20" dirty="0">
                <a:solidFill>
                  <a:srgbClr val="FFFFFF"/>
                </a:solidFill>
                <a:latin typeface="Arimo"/>
                <a:ea typeface="Arimo"/>
                <a:cs typeface="Arimo"/>
                <a:sym typeface="Arimo"/>
              </a:rPr>
              <a:t>Name </a:t>
            </a:r>
          </a:p>
          <a:p>
            <a:pPr marL="0" lvl="0" indent="0" algn="ctr">
              <a:lnSpc>
                <a:spcPts val="2432"/>
              </a:lnSpc>
              <a:spcBef>
                <a:spcPct val="0"/>
              </a:spcBef>
            </a:pPr>
            <a:endParaRPr lang="en-US" sz="4000" b="1" spc="20" dirty="0">
              <a:solidFill>
                <a:srgbClr val="FFFFFF"/>
              </a:solidFill>
              <a:latin typeface="Arimo"/>
              <a:ea typeface="Arimo"/>
              <a:cs typeface="Arimo"/>
              <a:sym typeface="Arimo"/>
            </a:endParaRPr>
          </a:p>
          <a:p>
            <a:pPr algn="ctr">
              <a:lnSpc>
                <a:spcPts val="2432"/>
              </a:lnSpc>
              <a:spcBef>
                <a:spcPct val="0"/>
              </a:spcBef>
            </a:pPr>
            <a:r>
              <a:rPr lang="en-US" sz="2400" spc="20" dirty="0">
                <a:solidFill>
                  <a:srgbClr val="FFFFFF"/>
                </a:solidFill>
                <a:latin typeface="Arimo"/>
                <a:ea typeface="Arimo"/>
                <a:cs typeface="Arimo"/>
                <a:sym typeface="Arimo"/>
              </a:rPr>
              <a:t>M MADHU KRISHNA SAI</a:t>
            </a:r>
          </a:p>
          <a:p>
            <a:pPr marL="0" lvl="0" indent="0" algn="ctr">
              <a:lnSpc>
                <a:spcPts val="2432"/>
              </a:lnSpc>
              <a:spcBef>
                <a:spcPct val="0"/>
              </a:spcBef>
            </a:pPr>
            <a:r>
              <a:rPr lang="en-US" sz="2400" spc="20" dirty="0">
                <a:solidFill>
                  <a:srgbClr val="FFFFFF"/>
                </a:solidFill>
                <a:latin typeface="Arimo"/>
                <a:ea typeface="Arimo"/>
                <a:cs typeface="Arimo"/>
                <a:sym typeface="Arimo"/>
              </a:rPr>
              <a:t>SYED AYAZ</a:t>
            </a:r>
          </a:p>
          <a:p>
            <a:pPr marL="0" lvl="0" indent="0" algn="ctr">
              <a:lnSpc>
                <a:spcPts val="2432"/>
              </a:lnSpc>
              <a:spcBef>
                <a:spcPct val="0"/>
              </a:spcBef>
            </a:pPr>
            <a:r>
              <a:rPr lang="en-US" sz="2400" spc="20" dirty="0">
                <a:solidFill>
                  <a:srgbClr val="FFFFFF"/>
                </a:solidFill>
                <a:latin typeface="Arimo"/>
                <a:ea typeface="Arimo"/>
                <a:cs typeface="Arimo"/>
                <a:sym typeface="Arimo"/>
              </a:rPr>
              <a:t>AKURATHI SAHITHI</a:t>
            </a:r>
            <a:br>
              <a:rPr lang="en-US" sz="2400" spc="20" dirty="0">
                <a:solidFill>
                  <a:srgbClr val="FFFFFF"/>
                </a:solidFill>
                <a:latin typeface="Arimo"/>
                <a:ea typeface="Arimo"/>
                <a:cs typeface="Arimo"/>
                <a:sym typeface="Arimo"/>
              </a:rPr>
            </a:br>
            <a:r>
              <a:rPr lang="en-US" sz="2400" spc="20" dirty="0">
                <a:solidFill>
                  <a:srgbClr val="FFFFFF"/>
                </a:solidFill>
                <a:latin typeface="Arimo"/>
                <a:ea typeface="Arimo"/>
                <a:cs typeface="Arimo"/>
                <a:sym typeface="Arimo"/>
              </a:rPr>
              <a:t>A NIKHIL SAI NATH</a:t>
            </a:r>
          </a:p>
          <a:p>
            <a:pPr marL="0" lvl="0" indent="0" algn="ctr">
              <a:lnSpc>
                <a:spcPts val="2432"/>
              </a:lnSpc>
              <a:spcBef>
                <a:spcPct val="0"/>
              </a:spcBef>
            </a:pPr>
            <a:r>
              <a:rPr lang="en-US" sz="2027" spc="20" dirty="0">
                <a:solidFill>
                  <a:srgbClr val="FFFFFF"/>
                </a:solidFill>
                <a:latin typeface="Arimo"/>
                <a:ea typeface="Arimo"/>
                <a:cs typeface="Arimo"/>
                <a:sym typeface="Arimo"/>
              </a:rPr>
              <a:t>                                  </a:t>
            </a:r>
          </a:p>
        </p:txBody>
      </p:sp>
      <p:sp>
        <p:nvSpPr>
          <p:cNvPr id="22" name="TextBox 21">
            <a:extLst>
              <a:ext uri="{FF2B5EF4-FFF2-40B4-BE49-F238E27FC236}">
                <a16:creationId xmlns:a16="http://schemas.microsoft.com/office/drawing/2014/main" id="{D47416DF-CA38-5834-B3FD-101CC1DD5C65}"/>
              </a:ext>
            </a:extLst>
          </p:cNvPr>
          <p:cNvSpPr txBox="1"/>
          <p:nvPr/>
        </p:nvSpPr>
        <p:spPr>
          <a:xfrm>
            <a:off x="10102576" y="5443903"/>
            <a:ext cx="2362200" cy="2462213"/>
          </a:xfrm>
          <a:prstGeom prst="rect">
            <a:avLst/>
          </a:prstGeom>
          <a:noFill/>
        </p:spPr>
        <p:txBody>
          <a:bodyPr wrap="square" rtlCol="0">
            <a:spAutoFit/>
          </a:bodyPr>
          <a:lstStyle/>
          <a:p>
            <a:r>
              <a:rPr lang="en-IN" sz="2800" b="1" dirty="0">
                <a:solidFill>
                  <a:schemeClr val="bg2"/>
                </a:solidFill>
              </a:rPr>
              <a:t>       </a:t>
            </a:r>
            <a:r>
              <a:rPr lang="en-IN" sz="4000" b="1" dirty="0">
                <a:solidFill>
                  <a:schemeClr val="bg2"/>
                </a:solidFill>
              </a:rPr>
              <a:t>ID NO</a:t>
            </a:r>
          </a:p>
          <a:p>
            <a:endParaRPr lang="en-IN" dirty="0">
              <a:solidFill>
                <a:schemeClr val="bg2"/>
              </a:solidFill>
            </a:endParaRPr>
          </a:p>
          <a:p>
            <a:r>
              <a:rPr lang="en-IN" sz="2400" dirty="0">
                <a:solidFill>
                  <a:schemeClr val="bg2"/>
                </a:solidFill>
              </a:rPr>
              <a:t>     2400031033</a:t>
            </a:r>
          </a:p>
          <a:p>
            <a:r>
              <a:rPr lang="en-IN" sz="2400" dirty="0">
                <a:solidFill>
                  <a:schemeClr val="bg2"/>
                </a:solidFill>
              </a:rPr>
              <a:t>     2400030943</a:t>
            </a:r>
          </a:p>
          <a:p>
            <a:r>
              <a:rPr lang="en-IN" sz="2400" dirty="0">
                <a:solidFill>
                  <a:schemeClr val="bg2"/>
                </a:solidFill>
              </a:rPr>
              <a:t>     2400031005</a:t>
            </a:r>
          </a:p>
          <a:p>
            <a:r>
              <a:rPr lang="en-IN" sz="2400" dirty="0">
                <a:solidFill>
                  <a:schemeClr val="bg2"/>
                </a:solidFill>
              </a:rPr>
              <a:t>     2400031084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127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8888" b="-88888"/>
            </a:stretch>
          </a:blipFill>
        </p:spPr>
      </p:sp>
      <p:sp>
        <p:nvSpPr>
          <p:cNvPr id="3" name="Freeform 3"/>
          <p:cNvSpPr/>
          <p:nvPr/>
        </p:nvSpPr>
        <p:spPr>
          <a:xfrm flipV="1">
            <a:off x="-325158" y="7079335"/>
            <a:ext cx="18938317" cy="9779058"/>
          </a:xfrm>
          <a:custGeom>
            <a:avLst/>
            <a:gdLst/>
            <a:ahLst/>
            <a:cxnLst/>
            <a:rect l="l" t="t" r="r" b="b"/>
            <a:pathLst>
              <a:path w="18938317" h="9779058">
                <a:moveTo>
                  <a:pt x="0" y="9779058"/>
                </a:moveTo>
                <a:lnTo>
                  <a:pt x="18938316" y="9779058"/>
                </a:lnTo>
                <a:lnTo>
                  <a:pt x="18938316" y="0"/>
                </a:lnTo>
                <a:lnTo>
                  <a:pt x="0" y="0"/>
                </a:lnTo>
                <a:lnTo>
                  <a:pt x="0" y="9779058"/>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325158" y="-6571393"/>
            <a:ext cx="18938317" cy="9779058"/>
          </a:xfrm>
          <a:custGeom>
            <a:avLst/>
            <a:gdLst/>
            <a:ahLst/>
            <a:cxnLst/>
            <a:rect l="l" t="t" r="r" b="b"/>
            <a:pathLst>
              <a:path w="18938317" h="9779058">
                <a:moveTo>
                  <a:pt x="0" y="0"/>
                </a:moveTo>
                <a:lnTo>
                  <a:pt x="18938316" y="0"/>
                </a:lnTo>
                <a:lnTo>
                  <a:pt x="18938316" y="9779058"/>
                </a:lnTo>
                <a:lnTo>
                  <a:pt x="0" y="977905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6540620" y="2675354"/>
            <a:ext cx="1207047" cy="7200900"/>
          </a:xfrm>
          <a:custGeom>
            <a:avLst/>
            <a:gdLst/>
            <a:ahLst/>
            <a:cxnLst/>
            <a:rect l="l" t="t" r="r" b="b"/>
            <a:pathLst>
              <a:path w="1207047" h="7200900">
                <a:moveTo>
                  <a:pt x="0" y="0"/>
                </a:moveTo>
                <a:lnTo>
                  <a:pt x="1207048" y="0"/>
                </a:lnTo>
                <a:lnTo>
                  <a:pt x="1207048" y="7200900"/>
                </a:lnTo>
                <a:lnTo>
                  <a:pt x="0" y="72009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40332" y="410746"/>
            <a:ext cx="1207047" cy="7200900"/>
          </a:xfrm>
          <a:custGeom>
            <a:avLst/>
            <a:gdLst/>
            <a:ahLst/>
            <a:cxnLst/>
            <a:rect l="l" t="t" r="r" b="b"/>
            <a:pathLst>
              <a:path w="1207047" h="7200900">
                <a:moveTo>
                  <a:pt x="1207048" y="7200900"/>
                </a:moveTo>
                <a:lnTo>
                  <a:pt x="0" y="7200900"/>
                </a:lnTo>
                <a:lnTo>
                  <a:pt x="0" y="0"/>
                </a:lnTo>
                <a:lnTo>
                  <a:pt x="1207048" y="0"/>
                </a:lnTo>
                <a:lnTo>
                  <a:pt x="1207048" y="72009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540332" y="8946022"/>
            <a:ext cx="7315200" cy="624556"/>
          </a:xfrm>
          <a:custGeom>
            <a:avLst/>
            <a:gdLst/>
            <a:ahLst/>
            <a:cxnLst/>
            <a:rect l="l" t="t" r="r" b="b"/>
            <a:pathLst>
              <a:path w="7315200" h="624556">
                <a:moveTo>
                  <a:pt x="0" y="0"/>
                </a:moveTo>
                <a:lnTo>
                  <a:pt x="7315200" y="0"/>
                </a:lnTo>
                <a:lnTo>
                  <a:pt x="7315200" y="624556"/>
                </a:lnTo>
                <a:lnTo>
                  <a:pt x="0" y="62455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flipH="1">
            <a:off x="10432468" y="716422"/>
            <a:ext cx="7315200" cy="624556"/>
          </a:xfrm>
          <a:custGeom>
            <a:avLst/>
            <a:gdLst/>
            <a:ahLst/>
            <a:cxnLst/>
            <a:rect l="l" t="t" r="r" b="b"/>
            <a:pathLst>
              <a:path w="7315200" h="624556">
                <a:moveTo>
                  <a:pt x="7315200" y="0"/>
                </a:moveTo>
                <a:lnTo>
                  <a:pt x="0" y="0"/>
                </a:lnTo>
                <a:lnTo>
                  <a:pt x="0" y="624556"/>
                </a:lnTo>
                <a:lnTo>
                  <a:pt x="7315200" y="624556"/>
                </a:lnTo>
                <a:lnTo>
                  <a:pt x="731520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AutoShape 9"/>
          <p:cNvSpPr/>
          <p:nvPr/>
        </p:nvSpPr>
        <p:spPr>
          <a:xfrm flipV="1">
            <a:off x="1968398" y="1028700"/>
            <a:ext cx="9412889" cy="0"/>
          </a:xfrm>
          <a:prstGeom prst="line">
            <a:avLst/>
          </a:prstGeom>
          <a:ln w="19050" cap="flat">
            <a:solidFill>
              <a:srgbClr val="86EDFF"/>
            </a:solidFill>
            <a:prstDash val="solid"/>
            <a:headEnd type="none" w="sm" len="sm"/>
            <a:tailEnd type="none" w="sm" len="sm"/>
          </a:ln>
        </p:spPr>
      </p:sp>
      <p:sp>
        <p:nvSpPr>
          <p:cNvPr id="10" name="AutoShape 10"/>
          <p:cNvSpPr/>
          <p:nvPr/>
        </p:nvSpPr>
        <p:spPr>
          <a:xfrm>
            <a:off x="6906713" y="9258300"/>
            <a:ext cx="9412889" cy="0"/>
          </a:xfrm>
          <a:prstGeom prst="line">
            <a:avLst/>
          </a:prstGeom>
          <a:ln w="19050" cap="flat">
            <a:solidFill>
              <a:srgbClr val="86EDFF"/>
            </a:solidFill>
            <a:prstDash val="solid"/>
            <a:headEnd type="none" w="sm" len="sm"/>
            <a:tailEnd type="none" w="sm" len="sm"/>
          </a:ln>
        </p:spPr>
      </p:sp>
      <p:sp>
        <p:nvSpPr>
          <p:cNvPr id="12" name="TextBox 12"/>
          <p:cNvSpPr txBox="1"/>
          <p:nvPr/>
        </p:nvSpPr>
        <p:spPr>
          <a:xfrm>
            <a:off x="3403319" y="1030321"/>
            <a:ext cx="11089959" cy="1482009"/>
          </a:xfrm>
          <a:prstGeom prst="rect">
            <a:avLst/>
          </a:prstGeom>
        </p:spPr>
        <p:txBody>
          <a:bodyPr lIns="0" tIns="0" rIns="0" bIns="0" rtlCol="0" anchor="t">
            <a:spAutoFit/>
          </a:bodyPr>
          <a:lstStyle/>
          <a:p>
            <a:pPr marL="0" lvl="0" indent="0" algn="ctr">
              <a:lnSpc>
                <a:spcPts val="12584"/>
              </a:lnSpc>
              <a:spcBef>
                <a:spcPct val="0"/>
              </a:spcBef>
            </a:pPr>
            <a:r>
              <a:rPr lang="en-US" sz="8000" b="1" spc="314" dirty="0">
                <a:solidFill>
                  <a:srgbClr val="FFFFFF"/>
                </a:solidFill>
                <a:latin typeface="Assistant Bold"/>
                <a:ea typeface="Assistant Bold"/>
                <a:cs typeface="Assistant Bold"/>
                <a:sym typeface="Assistant Bold"/>
              </a:rPr>
              <a:t>INTRODUCTION</a:t>
            </a:r>
          </a:p>
        </p:txBody>
      </p:sp>
      <p:sp>
        <p:nvSpPr>
          <p:cNvPr id="13" name="TextBox 13"/>
          <p:cNvSpPr txBox="1"/>
          <p:nvPr/>
        </p:nvSpPr>
        <p:spPr>
          <a:xfrm>
            <a:off x="1747378" y="2734457"/>
            <a:ext cx="14632757" cy="6463308"/>
          </a:xfrm>
          <a:prstGeom prst="rect">
            <a:avLst/>
          </a:prstGeom>
        </p:spPr>
        <p:txBody>
          <a:bodyPr wrap="square" lIns="0" tIns="0" rIns="0" bIns="0" rtlCol="0" anchor="t">
            <a:spAutoFit/>
          </a:bodyPr>
          <a:lstStyle/>
          <a:p>
            <a:pPr lvl="0"/>
            <a:r>
              <a:rPr lang="en-IN" sz="2800" dirty="0">
                <a:solidFill>
                  <a:schemeClr val="bg1"/>
                </a:solidFill>
              </a:rPr>
              <a:t>Cloud applications require high availability, scalability, and reliable traffic management to serve users efficiently. </a:t>
            </a:r>
          </a:p>
          <a:p>
            <a:pPr lvl="0"/>
            <a:r>
              <a:rPr lang="en-IN" sz="2800" dirty="0">
                <a:solidFill>
                  <a:schemeClr val="bg1"/>
                </a:solidFill>
              </a:rPr>
              <a:t>Microsoft Azure provides networking services that help distribute incoming traffic across multiple backend resources. </a:t>
            </a:r>
          </a:p>
          <a:p>
            <a:pPr lvl="0"/>
            <a:r>
              <a:rPr lang="en-IN" sz="2800" dirty="0">
                <a:solidFill>
                  <a:schemeClr val="bg1"/>
                </a:solidFill>
              </a:rPr>
              <a:t>Azure Load Balancer and Azure Application Gateway are two important Azure traffic distribution services. </a:t>
            </a:r>
          </a:p>
          <a:p>
            <a:pPr lvl="0"/>
            <a:r>
              <a:rPr lang="en-IN" sz="2800" dirty="0">
                <a:solidFill>
                  <a:schemeClr val="bg1"/>
                </a:solidFill>
              </a:rPr>
              <a:t>Azure Load Balancer operates at </a:t>
            </a:r>
            <a:r>
              <a:rPr lang="en-IN" sz="2800" b="1" dirty="0">
                <a:solidFill>
                  <a:schemeClr val="bg1"/>
                </a:solidFill>
              </a:rPr>
              <a:t>Layer 4 (Transport Layer)</a:t>
            </a:r>
            <a:r>
              <a:rPr lang="en-IN" sz="2800" dirty="0">
                <a:solidFill>
                  <a:schemeClr val="bg1"/>
                </a:solidFill>
              </a:rPr>
              <a:t> and distributes </a:t>
            </a:r>
            <a:r>
              <a:rPr lang="en-IN" sz="2800" b="1" dirty="0">
                <a:solidFill>
                  <a:schemeClr val="bg1"/>
                </a:solidFill>
              </a:rPr>
              <a:t>TCP/UDP</a:t>
            </a:r>
            <a:r>
              <a:rPr lang="en-IN" sz="2800" dirty="0">
                <a:solidFill>
                  <a:schemeClr val="bg1"/>
                </a:solidFill>
              </a:rPr>
              <a:t> traffic across virtual machines and servers. </a:t>
            </a:r>
          </a:p>
          <a:p>
            <a:pPr lvl="0"/>
            <a:r>
              <a:rPr lang="en-IN" sz="2800" dirty="0">
                <a:solidFill>
                  <a:schemeClr val="bg1"/>
                </a:solidFill>
              </a:rPr>
              <a:t>Azure Application Gateway operates at </a:t>
            </a:r>
            <a:r>
              <a:rPr lang="en-IN" sz="2800" b="1" dirty="0">
                <a:solidFill>
                  <a:schemeClr val="bg1"/>
                </a:solidFill>
              </a:rPr>
              <a:t>Layer 7 (Application Layer)</a:t>
            </a:r>
            <a:r>
              <a:rPr lang="en-IN" sz="2800" dirty="0">
                <a:solidFill>
                  <a:schemeClr val="bg1"/>
                </a:solidFill>
              </a:rPr>
              <a:t> and provides intelligent routing for </a:t>
            </a:r>
            <a:r>
              <a:rPr lang="en-IN" sz="2800" b="1" dirty="0">
                <a:solidFill>
                  <a:schemeClr val="bg1"/>
                </a:solidFill>
              </a:rPr>
              <a:t>HTTP/HTTPS</a:t>
            </a:r>
            <a:r>
              <a:rPr lang="en-IN" sz="2800" dirty="0">
                <a:solidFill>
                  <a:schemeClr val="bg1"/>
                </a:solidFill>
              </a:rPr>
              <a:t> web traffic. </a:t>
            </a:r>
          </a:p>
          <a:p>
            <a:pPr lvl="0"/>
            <a:r>
              <a:rPr lang="en-IN" sz="2800" dirty="0">
                <a:solidFill>
                  <a:schemeClr val="bg1"/>
                </a:solidFill>
              </a:rPr>
              <a:t>Application Gateway offers advanced features such as </a:t>
            </a:r>
            <a:r>
              <a:rPr lang="en-IN" sz="2800" b="1" dirty="0">
                <a:solidFill>
                  <a:schemeClr val="bg1"/>
                </a:solidFill>
              </a:rPr>
              <a:t>URL-based routing, SSL termination, session affinity, and Web Application Firewall (WAF)</a:t>
            </a:r>
            <a:r>
              <a:rPr lang="en-IN" sz="2800" dirty="0">
                <a:solidFill>
                  <a:schemeClr val="bg1"/>
                </a:solidFill>
              </a:rPr>
              <a:t>. </a:t>
            </a:r>
          </a:p>
          <a:p>
            <a:pPr lvl="0"/>
            <a:r>
              <a:rPr lang="en-IN" sz="2800" dirty="0">
                <a:solidFill>
                  <a:schemeClr val="bg1"/>
                </a:solidFill>
              </a:rPr>
              <a:t>Both services improve application performance, availability, and reliability but are designed for different use cases.</a:t>
            </a:r>
          </a:p>
          <a:p>
            <a:endParaRPr lang="en-IN" sz="2800" dirty="0">
              <a:solidFill>
                <a:schemeClr val="bg1"/>
              </a:solidFill>
            </a:endParaRPr>
          </a:p>
        </p:txBody>
      </p:sp>
      <p:grpSp>
        <p:nvGrpSpPr>
          <p:cNvPr id="21" name="Group 21"/>
          <p:cNvGrpSpPr/>
          <p:nvPr/>
        </p:nvGrpSpPr>
        <p:grpSpPr>
          <a:xfrm>
            <a:off x="16259067" y="9197765"/>
            <a:ext cx="121069" cy="12106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23" name="TextBox 23"/>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grpSp>
        <p:nvGrpSpPr>
          <p:cNvPr id="24" name="Group 24"/>
          <p:cNvGrpSpPr/>
          <p:nvPr/>
        </p:nvGrpSpPr>
        <p:grpSpPr>
          <a:xfrm>
            <a:off x="1907864" y="968165"/>
            <a:ext cx="121069" cy="12106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26" name="TextBox 26"/>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28600" y="-38100"/>
            <a:ext cx="18613159"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8888" b="-88888"/>
            </a:stretch>
          </a:blipFill>
        </p:spPr>
        <p:txBody>
          <a:bodyPr/>
          <a:lstStyle/>
          <a:p>
            <a:endParaRPr lang="en-US" dirty="0"/>
          </a:p>
        </p:txBody>
      </p:sp>
      <p:sp>
        <p:nvSpPr>
          <p:cNvPr id="3" name="Freeform 3"/>
          <p:cNvSpPr/>
          <p:nvPr/>
        </p:nvSpPr>
        <p:spPr>
          <a:xfrm flipV="1">
            <a:off x="-325158" y="7079335"/>
            <a:ext cx="18938317" cy="9779058"/>
          </a:xfrm>
          <a:custGeom>
            <a:avLst/>
            <a:gdLst/>
            <a:ahLst/>
            <a:cxnLst/>
            <a:rect l="l" t="t" r="r" b="b"/>
            <a:pathLst>
              <a:path w="18938317" h="9779058">
                <a:moveTo>
                  <a:pt x="0" y="9779058"/>
                </a:moveTo>
                <a:lnTo>
                  <a:pt x="18938316" y="9779058"/>
                </a:lnTo>
                <a:lnTo>
                  <a:pt x="18938316" y="0"/>
                </a:lnTo>
                <a:lnTo>
                  <a:pt x="0" y="0"/>
                </a:lnTo>
                <a:lnTo>
                  <a:pt x="0" y="9779058"/>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325158" y="-6571393"/>
            <a:ext cx="18938317" cy="9779058"/>
          </a:xfrm>
          <a:custGeom>
            <a:avLst/>
            <a:gdLst/>
            <a:ahLst/>
            <a:cxnLst/>
            <a:rect l="l" t="t" r="r" b="b"/>
            <a:pathLst>
              <a:path w="18938317" h="9779058">
                <a:moveTo>
                  <a:pt x="0" y="0"/>
                </a:moveTo>
                <a:lnTo>
                  <a:pt x="18938316" y="0"/>
                </a:lnTo>
                <a:lnTo>
                  <a:pt x="18938316" y="9779058"/>
                </a:lnTo>
                <a:lnTo>
                  <a:pt x="0" y="977905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6540620" y="2675354"/>
            <a:ext cx="1207047" cy="7200900"/>
          </a:xfrm>
          <a:custGeom>
            <a:avLst/>
            <a:gdLst/>
            <a:ahLst/>
            <a:cxnLst/>
            <a:rect l="l" t="t" r="r" b="b"/>
            <a:pathLst>
              <a:path w="1207047" h="7200900">
                <a:moveTo>
                  <a:pt x="0" y="0"/>
                </a:moveTo>
                <a:lnTo>
                  <a:pt x="1207048" y="0"/>
                </a:lnTo>
                <a:lnTo>
                  <a:pt x="1207048" y="7200900"/>
                </a:lnTo>
                <a:lnTo>
                  <a:pt x="0" y="72009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40332" y="410746"/>
            <a:ext cx="1207047" cy="7200900"/>
          </a:xfrm>
          <a:custGeom>
            <a:avLst/>
            <a:gdLst/>
            <a:ahLst/>
            <a:cxnLst/>
            <a:rect l="l" t="t" r="r" b="b"/>
            <a:pathLst>
              <a:path w="1207047" h="7200900">
                <a:moveTo>
                  <a:pt x="1207048" y="7200900"/>
                </a:moveTo>
                <a:lnTo>
                  <a:pt x="0" y="7200900"/>
                </a:lnTo>
                <a:lnTo>
                  <a:pt x="0" y="0"/>
                </a:lnTo>
                <a:lnTo>
                  <a:pt x="1207048" y="0"/>
                </a:lnTo>
                <a:lnTo>
                  <a:pt x="1207048" y="72009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540332" y="8946022"/>
            <a:ext cx="7315200" cy="624556"/>
          </a:xfrm>
          <a:custGeom>
            <a:avLst/>
            <a:gdLst/>
            <a:ahLst/>
            <a:cxnLst/>
            <a:rect l="l" t="t" r="r" b="b"/>
            <a:pathLst>
              <a:path w="7315200" h="624556">
                <a:moveTo>
                  <a:pt x="0" y="0"/>
                </a:moveTo>
                <a:lnTo>
                  <a:pt x="7315200" y="0"/>
                </a:lnTo>
                <a:lnTo>
                  <a:pt x="7315200" y="624556"/>
                </a:lnTo>
                <a:lnTo>
                  <a:pt x="0" y="62455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flipH="1">
            <a:off x="10432468" y="716422"/>
            <a:ext cx="7315200" cy="624556"/>
          </a:xfrm>
          <a:custGeom>
            <a:avLst/>
            <a:gdLst/>
            <a:ahLst/>
            <a:cxnLst/>
            <a:rect l="l" t="t" r="r" b="b"/>
            <a:pathLst>
              <a:path w="7315200" h="624556">
                <a:moveTo>
                  <a:pt x="7315200" y="0"/>
                </a:moveTo>
                <a:lnTo>
                  <a:pt x="0" y="0"/>
                </a:lnTo>
                <a:lnTo>
                  <a:pt x="0" y="624556"/>
                </a:lnTo>
                <a:lnTo>
                  <a:pt x="7315200" y="624556"/>
                </a:lnTo>
                <a:lnTo>
                  <a:pt x="731520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AutoShape 9"/>
          <p:cNvSpPr/>
          <p:nvPr/>
        </p:nvSpPr>
        <p:spPr>
          <a:xfrm flipV="1">
            <a:off x="1968398" y="1028700"/>
            <a:ext cx="9412889" cy="0"/>
          </a:xfrm>
          <a:prstGeom prst="line">
            <a:avLst/>
          </a:prstGeom>
          <a:ln w="19050" cap="flat">
            <a:solidFill>
              <a:srgbClr val="86EDFF"/>
            </a:solidFill>
            <a:prstDash val="solid"/>
            <a:headEnd type="none" w="sm" len="sm"/>
            <a:tailEnd type="none" w="sm" len="sm"/>
          </a:ln>
        </p:spPr>
      </p:sp>
      <p:sp>
        <p:nvSpPr>
          <p:cNvPr id="10" name="AutoShape 10"/>
          <p:cNvSpPr/>
          <p:nvPr/>
        </p:nvSpPr>
        <p:spPr>
          <a:xfrm>
            <a:off x="6906713" y="9258300"/>
            <a:ext cx="9412889" cy="0"/>
          </a:xfrm>
          <a:prstGeom prst="line">
            <a:avLst/>
          </a:prstGeom>
          <a:ln w="19050" cap="flat">
            <a:solidFill>
              <a:srgbClr val="86EDFF"/>
            </a:solidFill>
            <a:prstDash val="solid"/>
            <a:headEnd type="none" w="sm" len="sm"/>
            <a:tailEnd type="none" w="sm" len="sm"/>
          </a:ln>
        </p:spPr>
      </p:sp>
      <p:sp>
        <p:nvSpPr>
          <p:cNvPr id="12" name="TextBox 12"/>
          <p:cNvSpPr txBox="1"/>
          <p:nvPr/>
        </p:nvSpPr>
        <p:spPr>
          <a:xfrm>
            <a:off x="2072536" y="2337847"/>
            <a:ext cx="14186531" cy="1453155"/>
          </a:xfrm>
          <a:prstGeom prst="rect">
            <a:avLst/>
          </a:prstGeom>
        </p:spPr>
        <p:txBody>
          <a:bodyPr wrap="square" lIns="0" tIns="0" rIns="0" bIns="0" rtlCol="0" anchor="t">
            <a:spAutoFit/>
          </a:bodyPr>
          <a:lstStyle/>
          <a:p>
            <a:pPr marL="0" lvl="0" indent="0" algn="ctr">
              <a:lnSpc>
                <a:spcPts val="12320"/>
              </a:lnSpc>
              <a:spcBef>
                <a:spcPct val="0"/>
              </a:spcBef>
            </a:pPr>
            <a:r>
              <a:rPr lang="en-US" sz="8000" b="1" spc="308" dirty="0">
                <a:solidFill>
                  <a:srgbClr val="FFFFFF"/>
                </a:solidFill>
                <a:latin typeface="Assistant Bold"/>
                <a:ea typeface="Assistant Bold"/>
                <a:cs typeface="Assistant Bold"/>
                <a:sym typeface="Assistant Bold"/>
              </a:rPr>
              <a:t>KEY COMPONENTS</a:t>
            </a:r>
          </a:p>
        </p:txBody>
      </p:sp>
      <p:sp>
        <p:nvSpPr>
          <p:cNvPr id="13" name="TextBox 13"/>
          <p:cNvSpPr txBox="1"/>
          <p:nvPr/>
        </p:nvSpPr>
        <p:spPr>
          <a:xfrm>
            <a:off x="3403319" y="4186678"/>
            <a:ext cx="5549426" cy="4205831"/>
          </a:xfrm>
          <a:prstGeom prst="rect">
            <a:avLst/>
          </a:prstGeom>
        </p:spPr>
        <p:txBody>
          <a:bodyPr lIns="0" tIns="0" rIns="0" bIns="0" rtlCol="0" anchor="t">
            <a:spAutoFit/>
          </a:bodyPr>
          <a:lstStyle/>
          <a:p>
            <a:pPr marL="0" lvl="0" indent="0" algn="l">
              <a:lnSpc>
                <a:spcPts val="3275"/>
              </a:lnSpc>
              <a:spcBef>
                <a:spcPct val="0"/>
              </a:spcBef>
            </a:pPr>
            <a:r>
              <a:rPr lang="en-US" sz="3200" b="1" spc="27" dirty="0">
                <a:solidFill>
                  <a:srgbClr val="FFFFFF"/>
                </a:solidFill>
                <a:latin typeface="Arimo"/>
                <a:ea typeface="Arimo"/>
                <a:cs typeface="Arimo"/>
                <a:sym typeface="Arimo"/>
              </a:rPr>
              <a:t> </a:t>
            </a:r>
            <a:r>
              <a:rPr lang="en-US" sz="3200" b="1" u="sng" spc="27" dirty="0">
                <a:solidFill>
                  <a:srgbClr val="FFFFFF"/>
                </a:solidFill>
                <a:latin typeface="Arimo"/>
                <a:ea typeface="Arimo"/>
                <a:cs typeface="Arimo"/>
                <a:sym typeface="Arimo"/>
              </a:rPr>
              <a:t>Azure Load Balancer</a:t>
            </a:r>
          </a:p>
          <a:p>
            <a:pPr marL="0" lvl="0" indent="0" algn="l">
              <a:lnSpc>
                <a:spcPts val="3275"/>
              </a:lnSpc>
              <a:spcBef>
                <a:spcPct val="0"/>
              </a:spcBef>
            </a:pPr>
            <a:endParaRPr lang="en-US" sz="2729" spc="27" dirty="0">
              <a:solidFill>
                <a:srgbClr val="FFFFFF"/>
              </a:solidFill>
              <a:latin typeface="Arimo"/>
              <a:ea typeface="Arimo"/>
              <a:cs typeface="Arimo"/>
              <a:sym typeface="Arimo"/>
            </a:endParaRPr>
          </a:p>
          <a:p>
            <a:pPr lvl="0">
              <a:lnSpc>
                <a:spcPts val="3275"/>
              </a:lnSpc>
              <a:spcBef>
                <a:spcPct val="0"/>
              </a:spcBef>
            </a:pPr>
            <a:r>
              <a:rPr lang="en-US" sz="2729" spc="27" dirty="0">
                <a:solidFill>
                  <a:srgbClr val="FFFFFF"/>
                </a:solidFill>
                <a:latin typeface="Arimo"/>
                <a:ea typeface="Arimo"/>
                <a:cs typeface="Arimo"/>
                <a:sym typeface="Arimo"/>
              </a:rPr>
              <a:t>○ Layer 4 TCP/UDP traffic distribution</a:t>
            </a:r>
          </a:p>
          <a:p>
            <a:pPr marL="0" lvl="0" indent="0" algn="l">
              <a:lnSpc>
                <a:spcPts val="3275"/>
              </a:lnSpc>
              <a:spcBef>
                <a:spcPct val="0"/>
              </a:spcBef>
            </a:pPr>
            <a:r>
              <a:rPr lang="en-US" sz="2729" spc="27" dirty="0">
                <a:solidFill>
                  <a:srgbClr val="FFFFFF"/>
                </a:solidFill>
                <a:latin typeface="Arimo"/>
                <a:ea typeface="Arimo"/>
                <a:cs typeface="Arimo"/>
                <a:sym typeface="Arimo"/>
              </a:rPr>
              <a:t>○  Frontend IP Configuration</a:t>
            </a:r>
          </a:p>
          <a:p>
            <a:pPr marL="0" lvl="0" indent="0" algn="l">
              <a:lnSpc>
                <a:spcPts val="3275"/>
              </a:lnSpc>
              <a:spcBef>
                <a:spcPct val="0"/>
              </a:spcBef>
            </a:pPr>
            <a:r>
              <a:rPr lang="en-US" sz="2729" spc="27" dirty="0">
                <a:solidFill>
                  <a:srgbClr val="FFFFFF"/>
                </a:solidFill>
                <a:latin typeface="Arimo"/>
                <a:ea typeface="Arimo"/>
                <a:cs typeface="Arimo"/>
                <a:sym typeface="Arimo"/>
              </a:rPr>
              <a:t>Public or private entry point</a:t>
            </a:r>
          </a:p>
          <a:p>
            <a:pPr marL="0" lvl="0" indent="0" algn="l">
              <a:lnSpc>
                <a:spcPts val="3275"/>
              </a:lnSpc>
              <a:spcBef>
                <a:spcPct val="0"/>
              </a:spcBef>
            </a:pPr>
            <a:r>
              <a:rPr lang="en-US" sz="2729" spc="27" dirty="0">
                <a:solidFill>
                  <a:srgbClr val="FFFFFF"/>
                </a:solidFill>
                <a:latin typeface="Arimo"/>
                <a:ea typeface="Arimo"/>
                <a:cs typeface="Arimo"/>
                <a:sym typeface="Arimo"/>
              </a:rPr>
              <a:t>○  Backend Pools</a:t>
            </a:r>
          </a:p>
          <a:p>
            <a:pPr marL="0" lvl="0" indent="0" algn="l">
              <a:lnSpc>
                <a:spcPts val="3275"/>
              </a:lnSpc>
              <a:spcBef>
                <a:spcPct val="0"/>
              </a:spcBef>
            </a:pPr>
            <a:r>
              <a:rPr lang="en-US" sz="2729" spc="27" dirty="0">
                <a:solidFill>
                  <a:srgbClr val="FFFFFF"/>
                </a:solidFill>
                <a:latin typeface="Arimo"/>
                <a:ea typeface="Arimo"/>
                <a:cs typeface="Arimo"/>
                <a:sym typeface="Arimo"/>
              </a:rPr>
              <a:t>VMs or instances receiving traffic</a:t>
            </a:r>
          </a:p>
          <a:p>
            <a:pPr marL="0" lvl="0" indent="0" algn="l">
              <a:lnSpc>
                <a:spcPts val="3275"/>
              </a:lnSpc>
              <a:spcBef>
                <a:spcPct val="0"/>
              </a:spcBef>
            </a:pPr>
            <a:r>
              <a:rPr lang="en-US" sz="2729" spc="27" dirty="0">
                <a:solidFill>
                  <a:srgbClr val="FFFFFF"/>
                </a:solidFill>
                <a:latin typeface="Arimo"/>
                <a:ea typeface="Arimo"/>
                <a:cs typeface="Arimo"/>
                <a:sym typeface="Arimo"/>
              </a:rPr>
              <a:t>○  Health Probes</a:t>
            </a:r>
          </a:p>
          <a:p>
            <a:pPr marL="0" lvl="0" indent="0" algn="l">
              <a:lnSpc>
                <a:spcPts val="3275"/>
              </a:lnSpc>
              <a:spcBef>
                <a:spcPct val="0"/>
              </a:spcBef>
            </a:pPr>
            <a:r>
              <a:rPr lang="en-US" sz="2729" spc="27" dirty="0">
                <a:solidFill>
                  <a:srgbClr val="FFFFFF"/>
                </a:solidFill>
                <a:latin typeface="Arimo"/>
                <a:ea typeface="Arimo"/>
                <a:cs typeface="Arimo"/>
                <a:sym typeface="Arimo"/>
              </a:rPr>
              <a:t>Monitor endpoint availability</a:t>
            </a:r>
          </a:p>
        </p:txBody>
      </p:sp>
      <p:sp>
        <p:nvSpPr>
          <p:cNvPr id="17" name="TextBox 17"/>
          <p:cNvSpPr txBox="1"/>
          <p:nvPr/>
        </p:nvSpPr>
        <p:spPr>
          <a:xfrm>
            <a:off x="10069851" y="4186678"/>
            <a:ext cx="5549426" cy="3782639"/>
          </a:xfrm>
          <a:prstGeom prst="rect">
            <a:avLst/>
          </a:prstGeom>
        </p:spPr>
        <p:txBody>
          <a:bodyPr lIns="0" tIns="0" rIns="0" bIns="0" rtlCol="0" anchor="t">
            <a:spAutoFit/>
          </a:bodyPr>
          <a:lstStyle/>
          <a:p>
            <a:pPr>
              <a:lnSpc>
                <a:spcPts val="3275"/>
              </a:lnSpc>
              <a:spcBef>
                <a:spcPct val="0"/>
              </a:spcBef>
            </a:pPr>
            <a:r>
              <a:rPr lang="en-US" sz="2800" b="1" u="sng" spc="27" dirty="0">
                <a:solidFill>
                  <a:srgbClr val="FFFFFF"/>
                </a:solidFill>
                <a:latin typeface="Arimo"/>
                <a:ea typeface="Arimo"/>
                <a:cs typeface="Arimo"/>
                <a:sym typeface="Arimo"/>
              </a:rPr>
              <a:t>  </a:t>
            </a:r>
            <a:r>
              <a:rPr lang="en-US" sz="3200" b="1" u="sng" spc="27" dirty="0">
                <a:solidFill>
                  <a:srgbClr val="FFFFFF"/>
                </a:solidFill>
                <a:latin typeface="Arimo"/>
                <a:ea typeface="Arimo"/>
                <a:cs typeface="Arimo"/>
                <a:sym typeface="Arimo"/>
              </a:rPr>
              <a:t>Azure Application Gateway</a:t>
            </a:r>
            <a:endParaRPr lang="en-US" sz="3200" b="1" spc="27" dirty="0">
              <a:solidFill>
                <a:srgbClr val="FFFFFF"/>
              </a:solidFill>
              <a:latin typeface="Arimo"/>
              <a:ea typeface="Arimo"/>
              <a:cs typeface="Arimo"/>
              <a:sym typeface="Arimo"/>
            </a:endParaRPr>
          </a:p>
          <a:p>
            <a:pPr marL="0" lvl="0" indent="0" algn="l">
              <a:lnSpc>
                <a:spcPts val="3275"/>
              </a:lnSpc>
              <a:spcBef>
                <a:spcPct val="0"/>
              </a:spcBef>
            </a:pPr>
            <a:endParaRPr lang="en-US" sz="2729" spc="27" dirty="0">
              <a:solidFill>
                <a:srgbClr val="FFFFFF"/>
              </a:solidFill>
              <a:latin typeface="Arimo"/>
              <a:ea typeface="Arimo"/>
              <a:cs typeface="Arimo"/>
              <a:sym typeface="Arimo"/>
            </a:endParaRPr>
          </a:p>
          <a:p>
            <a:pPr lvl="0">
              <a:lnSpc>
                <a:spcPts val="3275"/>
              </a:lnSpc>
              <a:spcBef>
                <a:spcPct val="0"/>
              </a:spcBef>
            </a:pPr>
            <a:r>
              <a:rPr lang="en-US" sz="2729" spc="27" dirty="0">
                <a:solidFill>
                  <a:srgbClr val="FFFFFF"/>
                </a:solidFill>
                <a:latin typeface="Arimo"/>
                <a:ea typeface="Arimo"/>
                <a:cs typeface="Arimo"/>
                <a:sym typeface="Arimo"/>
              </a:rPr>
              <a:t>○ Layer 7 HTTP/HTTPS routing</a:t>
            </a:r>
          </a:p>
          <a:p>
            <a:pPr marL="0" lvl="0" indent="0" algn="l">
              <a:lnSpc>
                <a:spcPts val="3275"/>
              </a:lnSpc>
              <a:spcBef>
                <a:spcPct val="0"/>
              </a:spcBef>
            </a:pPr>
            <a:r>
              <a:rPr lang="en-US" sz="2729" spc="27" dirty="0">
                <a:solidFill>
                  <a:srgbClr val="FFFFFF"/>
                </a:solidFill>
                <a:latin typeface="Arimo"/>
                <a:ea typeface="Arimo"/>
                <a:cs typeface="Arimo"/>
                <a:sym typeface="Arimo"/>
              </a:rPr>
              <a:t>○  Listeners &amp; Rules</a:t>
            </a:r>
          </a:p>
          <a:p>
            <a:pPr marL="0" lvl="0" indent="0" algn="l">
              <a:lnSpc>
                <a:spcPts val="3275"/>
              </a:lnSpc>
              <a:spcBef>
                <a:spcPct val="0"/>
              </a:spcBef>
            </a:pPr>
            <a:r>
              <a:rPr lang="en-US" sz="2729" spc="27" dirty="0">
                <a:solidFill>
                  <a:srgbClr val="FFFFFF"/>
                </a:solidFill>
                <a:latin typeface="Arimo"/>
                <a:ea typeface="Arimo"/>
                <a:cs typeface="Arimo"/>
                <a:sym typeface="Arimo"/>
              </a:rPr>
              <a:t>Route traffic by URL/host rules</a:t>
            </a:r>
          </a:p>
          <a:p>
            <a:pPr marL="0" lvl="0" indent="0" algn="l">
              <a:lnSpc>
                <a:spcPts val="3275"/>
              </a:lnSpc>
              <a:spcBef>
                <a:spcPct val="0"/>
              </a:spcBef>
            </a:pPr>
            <a:r>
              <a:rPr lang="en-US" sz="2729" spc="27" dirty="0">
                <a:solidFill>
                  <a:srgbClr val="FFFFFF"/>
                </a:solidFill>
                <a:latin typeface="Arimo"/>
                <a:ea typeface="Arimo"/>
                <a:cs typeface="Arimo"/>
                <a:sym typeface="Arimo"/>
              </a:rPr>
              <a:t>○  SSL/TLS Handling</a:t>
            </a:r>
          </a:p>
          <a:p>
            <a:pPr marL="0" lvl="0" indent="0" algn="l">
              <a:lnSpc>
                <a:spcPts val="3275"/>
              </a:lnSpc>
              <a:spcBef>
                <a:spcPct val="0"/>
              </a:spcBef>
            </a:pPr>
            <a:r>
              <a:rPr lang="en-US" sz="2729" spc="27" dirty="0">
                <a:solidFill>
                  <a:srgbClr val="FFFFFF"/>
                </a:solidFill>
                <a:latin typeface="Arimo"/>
                <a:ea typeface="Arimo"/>
                <a:cs typeface="Arimo"/>
                <a:sym typeface="Arimo"/>
              </a:rPr>
              <a:t>Offload encryption at gateway</a:t>
            </a:r>
          </a:p>
          <a:p>
            <a:pPr marL="0" lvl="0" indent="0" algn="l">
              <a:lnSpc>
                <a:spcPts val="3275"/>
              </a:lnSpc>
              <a:spcBef>
                <a:spcPct val="0"/>
              </a:spcBef>
            </a:pPr>
            <a:r>
              <a:rPr lang="en-US" sz="2729" spc="27" dirty="0">
                <a:solidFill>
                  <a:srgbClr val="FFFFFF"/>
                </a:solidFill>
                <a:latin typeface="Arimo"/>
                <a:ea typeface="Arimo"/>
                <a:cs typeface="Arimo"/>
                <a:sym typeface="Arimo"/>
              </a:rPr>
              <a:t>○  Optional WAF</a:t>
            </a:r>
          </a:p>
          <a:p>
            <a:pPr marL="0" lvl="0" indent="0" algn="l">
              <a:lnSpc>
                <a:spcPts val="3275"/>
              </a:lnSpc>
              <a:spcBef>
                <a:spcPct val="0"/>
              </a:spcBef>
            </a:pPr>
            <a:r>
              <a:rPr lang="en-US" sz="2729" spc="27" dirty="0">
                <a:solidFill>
                  <a:srgbClr val="FFFFFF"/>
                </a:solidFill>
                <a:latin typeface="Arimo"/>
                <a:ea typeface="Arimo"/>
                <a:cs typeface="Arimo"/>
                <a:sym typeface="Arimo"/>
              </a:rPr>
              <a:t>Web Application Firewall protection</a:t>
            </a:r>
          </a:p>
        </p:txBody>
      </p:sp>
      <p:grpSp>
        <p:nvGrpSpPr>
          <p:cNvPr id="21" name="Group 21"/>
          <p:cNvGrpSpPr/>
          <p:nvPr/>
        </p:nvGrpSpPr>
        <p:grpSpPr>
          <a:xfrm>
            <a:off x="16259067" y="9197765"/>
            <a:ext cx="121069" cy="12106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23" name="TextBox 23"/>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grpSp>
        <p:nvGrpSpPr>
          <p:cNvPr id="24" name="Group 24"/>
          <p:cNvGrpSpPr/>
          <p:nvPr/>
        </p:nvGrpSpPr>
        <p:grpSpPr>
          <a:xfrm>
            <a:off x="1907864" y="968165"/>
            <a:ext cx="121069" cy="12106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26" name="TextBox 26"/>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cxnSp>
        <p:nvCxnSpPr>
          <p:cNvPr id="14" name="Straight Connector 13">
            <a:extLst>
              <a:ext uri="{FF2B5EF4-FFF2-40B4-BE49-F238E27FC236}">
                <a16:creationId xmlns:a16="http://schemas.microsoft.com/office/drawing/2014/main" id="{D1EC6E17-4816-828C-B801-7D5577E8293F}"/>
              </a:ext>
            </a:extLst>
          </p:cNvPr>
          <p:cNvCxnSpPr/>
          <p:nvPr/>
        </p:nvCxnSpPr>
        <p:spPr>
          <a:xfrm>
            <a:off x="9144000" y="4000500"/>
            <a:ext cx="76200" cy="44958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8888" b="-88888"/>
            </a:stretch>
          </a:blipFill>
        </p:spPr>
      </p:sp>
      <p:sp>
        <p:nvSpPr>
          <p:cNvPr id="3" name="Freeform 3"/>
          <p:cNvSpPr/>
          <p:nvPr/>
        </p:nvSpPr>
        <p:spPr>
          <a:xfrm flipV="1">
            <a:off x="-325158" y="7079335"/>
            <a:ext cx="18938317" cy="9779058"/>
          </a:xfrm>
          <a:custGeom>
            <a:avLst/>
            <a:gdLst/>
            <a:ahLst/>
            <a:cxnLst/>
            <a:rect l="l" t="t" r="r" b="b"/>
            <a:pathLst>
              <a:path w="18938317" h="9779058">
                <a:moveTo>
                  <a:pt x="0" y="9779058"/>
                </a:moveTo>
                <a:lnTo>
                  <a:pt x="18938316" y="9779058"/>
                </a:lnTo>
                <a:lnTo>
                  <a:pt x="18938316" y="0"/>
                </a:lnTo>
                <a:lnTo>
                  <a:pt x="0" y="0"/>
                </a:lnTo>
                <a:lnTo>
                  <a:pt x="0" y="9779058"/>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325158" y="-6571393"/>
            <a:ext cx="18938317" cy="9779058"/>
          </a:xfrm>
          <a:custGeom>
            <a:avLst/>
            <a:gdLst/>
            <a:ahLst/>
            <a:cxnLst/>
            <a:rect l="l" t="t" r="r" b="b"/>
            <a:pathLst>
              <a:path w="18938317" h="9779058">
                <a:moveTo>
                  <a:pt x="0" y="0"/>
                </a:moveTo>
                <a:lnTo>
                  <a:pt x="18938316" y="0"/>
                </a:lnTo>
                <a:lnTo>
                  <a:pt x="18938316" y="9779058"/>
                </a:lnTo>
                <a:lnTo>
                  <a:pt x="0" y="977905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6540620" y="2675354"/>
            <a:ext cx="1207047" cy="7200900"/>
          </a:xfrm>
          <a:custGeom>
            <a:avLst/>
            <a:gdLst/>
            <a:ahLst/>
            <a:cxnLst/>
            <a:rect l="l" t="t" r="r" b="b"/>
            <a:pathLst>
              <a:path w="1207047" h="7200900">
                <a:moveTo>
                  <a:pt x="0" y="0"/>
                </a:moveTo>
                <a:lnTo>
                  <a:pt x="1207048" y="0"/>
                </a:lnTo>
                <a:lnTo>
                  <a:pt x="1207048" y="7200900"/>
                </a:lnTo>
                <a:lnTo>
                  <a:pt x="0" y="72009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40332" y="410746"/>
            <a:ext cx="1207047" cy="7200900"/>
          </a:xfrm>
          <a:custGeom>
            <a:avLst/>
            <a:gdLst/>
            <a:ahLst/>
            <a:cxnLst/>
            <a:rect l="l" t="t" r="r" b="b"/>
            <a:pathLst>
              <a:path w="1207047" h="7200900">
                <a:moveTo>
                  <a:pt x="1207048" y="7200900"/>
                </a:moveTo>
                <a:lnTo>
                  <a:pt x="0" y="7200900"/>
                </a:lnTo>
                <a:lnTo>
                  <a:pt x="0" y="0"/>
                </a:lnTo>
                <a:lnTo>
                  <a:pt x="1207048" y="0"/>
                </a:lnTo>
                <a:lnTo>
                  <a:pt x="1207048" y="72009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540332" y="8946022"/>
            <a:ext cx="7315200" cy="624556"/>
          </a:xfrm>
          <a:custGeom>
            <a:avLst/>
            <a:gdLst/>
            <a:ahLst/>
            <a:cxnLst/>
            <a:rect l="l" t="t" r="r" b="b"/>
            <a:pathLst>
              <a:path w="7315200" h="624556">
                <a:moveTo>
                  <a:pt x="0" y="0"/>
                </a:moveTo>
                <a:lnTo>
                  <a:pt x="7315200" y="0"/>
                </a:lnTo>
                <a:lnTo>
                  <a:pt x="7315200" y="624556"/>
                </a:lnTo>
                <a:lnTo>
                  <a:pt x="0" y="62455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flipH="1">
            <a:off x="10432468" y="716422"/>
            <a:ext cx="7315200" cy="624556"/>
          </a:xfrm>
          <a:custGeom>
            <a:avLst/>
            <a:gdLst/>
            <a:ahLst/>
            <a:cxnLst/>
            <a:rect l="l" t="t" r="r" b="b"/>
            <a:pathLst>
              <a:path w="7315200" h="624556">
                <a:moveTo>
                  <a:pt x="7315200" y="0"/>
                </a:moveTo>
                <a:lnTo>
                  <a:pt x="0" y="0"/>
                </a:lnTo>
                <a:lnTo>
                  <a:pt x="0" y="624556"/>
                </a:lnTo>
                <a:lnTo>
                  <a:pt x="7315200" y="624556"/>
                </a:lnTo>
                <a:lnTo>
                  <a:pt x="731520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AutoShape 9"/>
          <p:cNvSpPr/>
          <p:nvPr/>
        </p:nvSpPr>
        <p:spPr>
          <a:xfrm flipV="1">
            <a:off x="1968398" y="1028700"/>
            <a:ext cx="9412889" cy="0"/>
          </a:xfrm>
          <a:prstGeom prst="line">
            <a:avLst/>
          </a:prstGeom>
          <a:ln w="19050" cap="flat">
            <a:solidFill>
              <a:srgbClr val="86EDFF"/>
            </a:solidFill>
            <a:prstDash val="solid"/>
            <a:headEnd type="none" w="sm" len="sm"/>
            <a:tailEnd type="none" w="sm" len="sm"/>
          </a:ln>
        </p:spPr>
      </p:sp>
      <p:sp>
        <p:nvSpPr>
          <p:cNvPr id="10" name="AutoShape 10"/>
          <p:cNvSpPr/>
          <p:nvPr/>
        </p:nvSpPr>
        <p:spPr>
          <a:xfrm>
            <a:off x="6906713" y="9258300"/>
            <a:ext cx="9412889" cy="0"/>
          </a:xfrm>
          <a:prstGeom prst="line">
            <a:avLst/>
          </a:prstGeom>
          <a:ln w="19050" cap="flat">
            <a:solidFill>
              <a:srgbClr val="86EDFF"/>
            </a:solidFill>
            <a:prstDash val="solid"/>
            <a:headEnd type="none" w="sm" len="sm"/>
            <a:tailEnd type="none" w="sm" len="sm"/>
          </a:ln>
        </p:spPr>
      </p:sp>
      <p:sp>
        <p:nvSpPr>
          <p:cNvPr id="11" name="TextBox 11"/>
          <p:cNvSpPr txBox="1"/>
          <p:nvPr/>
        </p:nvSpPr>
        <p:spPr>
          <a:xfrm>
            <a:off x="3497786" y="883779"/>
            <a:ext cx="11089959" cy="1482009"/>
          </a:xfrm>
          <a:prstGeom prst="rect">
            <a:avLst/>
          </a:prstGeom>
        </p:spPr>
        <p:txBody>
          <a:bodyPr lIns="0" tIns="0" rIns="0" bIns="0" rtlCol="0" anchor="t">
            <a:spAutoFit/>
          </a:bodyPr>
          <a:lstStyle/>
          <a:p>
            <a:pPr marL="0" lvl="0" indent="0" algn="ctr">
              <a:lnSpc>
                <a:spcPts val="12584"/>
              </a:lnSpc>
              <a:spcBef>
                <a:spcPct val="0"/>
              </a:spcBef>
            </a:pPr>
            <a:r>
              <a:rPr lang="en-US" sz="8000" b="1" spc="314" dirty="0">
                <a:solidFill>
                  <a:srgbClr val="FFFFFF"/>
                </a:solidFill>
                <a:latin typeface="Assistant Bold"/>
                <a:ea typeface="Assistant Bold"/>
                <a:cs typeface="Assistant Bold"/>
                <a:sym typeface="Assistant Bold"/>
              </a:rPr>
              <a:t>ABSTRACT</a:t>
            </a:r>
          </a:p>
        </p:txBody>
      </p:sp>
      <p:sp>
        <p:nvSpPr>
          <p:cNvPr id="15" name="TextBox 15"/>
          <p:cNvSpPr txBox="1"/>
          <p:nvPr/>
        </p:nvSpPr>
        <p:spPr>
          <a:xfrm>
            <a:off x="3621900" y="2410345"/>
            <a:ext cx="13073855" cy="2215991"/>
          </a:xfrm>
          <a:prstGeom prst="rect">
            <a:avLst/>
          </a:prstGeom>
        </p:spPr>
        <p:txBody>
          <a:bodyPr wrap="square" lIns="0" tIns="0" rIns="0" bIns="0" rtlCol="0" anchor="t">
            <a:spAutoFit/>
          </a:bodyPr>
          <a:lstStyle/>
          <a:p>
            <a:r>
              <a:rPr lang="en-IN" sz="3200" b="1" dirty="0">
                <a:solidFill>
                  <a:schemeClr val="bg2"/>
                </a:solidFill>
              </a:rPr>
              <a:t>• Architecture: </a:t>
            </a:r>
            <a:r>
              <a:rPr lang="en-IN" sz="2800" dirty="0">
                <a:solidFill>
                  <a:schemeClr val="bg2"/>
                </a:solidFill>
              </a:rPr>
              <a:t>Load Balancer operates at Layer 4 (TCP/UDP) with a simple pass-through model; Application Gateway operates at Layer 7 (HTTP/HTTPS) with advanced request inspection and routing logic.</a:t>
            </a:r>
          </a:p>
          <a:p>
            <a:r>
              <a:rPr lang="en-IN" sz="2800" dirty="0">
                <a:solidFill>
                  <a:schemeClr val="bg2"/>
                </a:solidFill>
              </a:rPr>
              <a:t>• Traffic Layer &amp; Routing: Load Balancer distributes traffic by IP and port; Application Gateway routes by URL path, hostname, and HTTP headers for granular control.</a:t>
            </a:r>
          </a:p>
        </p:txBody>
      </p:sp>
      <p:sp>
        <p:nvSpPr>
          <p:cNvPr id="19" name="TextBox 19"/>
          <p:cNvSpPr txBox="1"/>
          <p:nvPr/>
        </p:nvSpPr>
        <p:spPr>
          <a:xfrm>
            <a:off x="3621900" y="4900372"/>
            <a:ext cx="11428789" cy="4001095"/>
          </a:xfrm>
          <a:prstGeom prst="rect">
            <a:avLst/>
          </a:prstGeom>
        </p:spPr>
        <p:txBody>
          <a:bodyPr wrap="square" lIns="0" tIns="0" rIns="0" bIns="0" rtlCol="0" anchor="t">
            <a:spAutoFit/>
          </a:bodyPr>
          <a:lstStyle/>
          <a:p>
            <a:r>
              <a:rPr lang="en-IN" sz="3200" b="1" dirty="0">
                <a:solidFill>
                  <a:schemeClr val="bg2"/>
                </a:solidFill>
              </a:rPr>
              <a:t>•</a:t>
            </a:r>
            <a:r>
              <a:rPr lang="en-IN" sz="3200" b="1" dirty="0"/>
              <a:t> </a:t>
            </a:r>
            <a:r>
              <a:rPr lang="en-IN" sz="3200" b="1" dirty="0">
                <a:solidFill>
                  <a:schemeClr val="bg2"/>
                </a:solidFill>
              </a:rPr>
              <a:t>Security &amp; SSL: </a:t>
            </a:r>
            <a:r>
              <a:rPr lang="en-IN" sz="2800" dirty="0">
                <a:solidFill>
                  <a:schemeClr val="bg2"/>
                </a:solidFill>
              </a:rPr>
              <a:t>Application Gateway offers built-in SSL/TLS termination and optional WAF; Load Balancer provides no application-layer security features.</a:t>
            </a:r>
          </a:p>
          <a:p>
            <a:r>
              <a:rPr lang="en-IN" sz="3200" b="1" dirty="0">
                <a:solidFill>
                  <a:schemeClr val="bg2"/>
                </a:solidFill>
              </a:rPr>
              <a:t>• Performance &amp; Cost: </a:t>
            </a:r>
            <a:r>
              <a:rPr lang="en-IN" sz="2800" dirty="0">
                <a:solidFill>
                  <a:schemeClr val="bg2"/>
                </a:solidFill>
              </a:rPr>
              <a:t>Load Balancer delivers ultra-low latency at high throughput with lower cost; Application Gateway suits complex web workloads where advanced routing and security justify higher spend.</a:t>
            </a:r>
          </a:p>
          <a:p>
            <a:r>
              <a:rPr lang="en-IN" sz="2800" dirty="0">
                <a:solidFill>
                  <a:schemeClr val="bg2"/>
                </a:solidFill>
              </a:rPr>
              <a:t>• Project Suitability: Use Load Balancer for non-HTTP, high-volume TCP/UDP traffic; use Application Gateway for web apps requiring URL routing, SSL offload, or WAF protection.</a:t>
            </a:r>
          </a:p>
        </p:txBody>
      </p:sp>
      <p:grpSp>
        <p:nvGrpSpPr>
          <p:cNvPr id="21" name="Group 21"/>
          <p:cNvGrpSpPr/>
          <p:nvPr/>
        </p:nvGrpSpPr>
        <p:grpSpPr>
          <a:xfrm>
            <a:off x="16259067" y="9197765"/>
            <a:ext cx="121069" cy="12106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23" name="TextBox 23"/>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grpSp>
        <p:nvGrpSpPr>
          <p:cNvPr id="24" name="Group 24"/>
          <p:cNvGrpSpPr/>
          <p:nvPr/>
        </p:nvGrpSpPr>
        <p:grpSpPr>
          <a:xfrm>
            <a:off x="1907864" y="968165"/>
            <a:ext cx="121069" cy="12106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26" name="TextBox 26"/>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grpSp>
        <p:nvGrpSpPr>
          <p:cNvPr id="27" name="Group 27"/>
          <p:cNvGrpSpPr/>
          <p:nvPr/>
        </p:nvGrpSpPr>
        <p:grpSpPr>
          <a:xfrm>
            <a:off x="3354976" y="4094485"/>
            <a:ext cx="244045" cy="244045"/>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1558"/>
            </a:solidFill>
          </p:spPr>
        </p:sp>
        <p:sp>
          <p:nvSpPr>
            <p:cNvPr id="29" name="TextBox 29"/>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grpSp>
        <p:nvGrpSpPr>
          <p:cNvPr id="30" name="Group 30"/>
          <p:cNvGrpSpPr/>
          <p:nvPr/>
        </p:nvGrpSpPr>
        <p:grpSpPr>
          <a:xfrm>
            <a:off x="3358187" y="6350623"/>
            <a:ext cx="244045" cy="244045"/>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1558"/>
            </a:solidFill>
          </p:spPr>
        </p:sp>
        <p:sp>
          <p:nvSpPr>
            <p:cNvPr id="32" name="TextBox 32"/>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BE9311A-AE4E-C780-3BFF-7A9848FE00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81100"/>
            <a:ext cx="18288001" cy="9220200"/>
          </a:xfrm>
          <a:prstGeom prst="rect">
            <a:avLst/>
          </a:prstGeom>
        </p:spPr>
      </p:pic>
      <p:sp>
        <p:nvSpPr>
          <p:cNvPr id="5" name="TextBox 4">
            <a:extLst>
              <a:ext uri="{FF2B5EF4-FFF2-40B4-BE49-F238E27FC236}">
                <a16:creationId xmlns:a16="http://schemas.microsoft.com/office/drawing/2014/main" id="{ED9DD47D-C54C-F443-3513-D4DC9B74959B}"/>
              </a:ext>
            </a:extLst>
          </p:cNvPr>
          <p:cNvSpPr txBox="1"/>
          <p:nvPr/>
        </p:nvSpPr>
        <p:spPr>
          <a:xfrm>
            <a:off x="3962400" y="190500"/>
            <a:ext cx="10363200" cy="830997"/>
          </a:xfrm>
          <a:prstGeom prst="rect">
            <a:avLst/>
          </a:prstGeom>
          <a:noFill/>
        </p:spPr>
        <p:txBody>
          <a:bodyPr wrap="square" rtlCol="0">
            <a:spAutoFit/>
          </a:bodyPr>
          <a:lstStyle/>
          <a:p>
            <a:r>
              <a:rPr lang="en-IN" sz="4800" dirty="0"/>
              <a:t>    </a:t>
            </a:r>
            <a:r>
              <a:rPr lang="en-IN" sz="4800" b="1" dirty="0"/>
              <a:t>Azure Load Balancer Architecture</a:t>
            </a:r>
          </a:p>
        </p:txBody>
      </p:sp>
    </p:spTree>
    <p:extLst>
      <p:ext uri="{BB962C8B-B14F-4D97-AF65-F5344CB8AC3E}">
        <p14:creationId xmlns:p14="http://schemas.microsoft.com/office/powerpoint/2010/main" val="3419021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0FCAD7-D2D2-474F-6927-91B56109F7C6}"/>
              </a:ext>
            </a:extLst>
          </p:cNvPr>
          <p:cNvPicPr>
            <a:picLocks noChangeAspect="1"/>
          </p:cNvPicPr>
          <p:nvPr/>
        </p:nvPicPr>
        <p:blipFill>
          <a:blip r:embed="rId2"/>
          <a:stretch>
            <a:fillRect/>
          </a:stretch>
        </p:blipFill>
        <p:spPr>
          <a:xfrm>
            <a:off x="0" y="1333501"/>
            <a:ext cx="18288000" cy="8953500"/>
          </a:xfrm>
          <a:prstGeom prst="rect">
            <a:avLst/>
          </a:prstGeom>
        </p:spPr>
      </p:pic>
      <p:sp>
        <p:nvSpPr>
          <p:cNvPr id="4" name="TextBox 3">
            <a:extLst>
              <a:ext uri="{FF2B5EF4-FFF2-40B4-BE49-F238E27FC236}">
                <a16:creationId xmlns:a16="http://schemas.microsoft.com/office/drawing/2014/main" id="{2F806F4D-A576-5FAB-F7BB-B19937547525}"/>
              </a:ext>
            </a:extLst>
          </p:cNvPr>
          <p:cNvSpPr txBox="1"/>
          <p:nvPr/>
        </p:nvSpPr>
        <p:spPr>
          <a:xfrm>
            <a:off x="5257800" y="266700"/>
            <a:ext cx="6139245" cy="923330"/>
          </a:xfrm>
          <a:prstGeom prst="rect">
            <a:avLst/>
          </a:prstGeom>
          <a:noFill/>
        </p:spPr>
        <p:txBody>
          <a:bodyPr wrap="none" rtlCol="0">
            <a:spAutoFit/>
          </a:bodyPr>
          <a:lstStyle/>
          <a:p>
            <a:r>
              <a:rPr lang="en-IN" sz="5400" b="1" dirty="0"/>
              <a:t>Application Gateway</a:t>
            </a:r>
          </a:p>
        </p:txBody>
      </p:sp>
    </p:spTree>
    <p:extLst>
      <p:ext uri="{BB962C8B-B14F-4D97-AF65-F5344CB8AC3E}">
        <p14:creationId xmlns:p14="http://schemas.microsoft.com/office/powerpoint/2010/main" val="3233322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8888" b="-88888"/>
            </a:stretch>
          </a:blipFill>
        </p:spPr>
      </p:sp>
      <p:sp>
        <p:nvSpPr>
          <p:cNvPr id="3" name="Freeform 3"/>
          <p:cNvSpPr/>
          <p:nvPr/>
        </p:nvSpPr>
        <p:spPr>
          <a:xfrm flipV="1">
            <a:off x="-325158" y="7079335"/>
            <a:ext cx="18938317" cy="9779058"/>
          </a:xfrm>
          <a:custGeom>
            <a:avLst/>
            <a:gdLst/>
            <a:ahLst/>
            <a:cxnLst/>
            <a:rect l="l" t="t" r="r" b="b"/>
            <a:pathLst>
              <a:path w="18938317" h="9779058">
                <a:moveTo>
                  <a:pt x="0" y="9779058"/>
                </a:moveTo>
                <a:lnTo>
                  <a:pt x="18938316" y="9779058"/>
                </a:lnTo>
                <a:lnTo>
                  <a:pt x="18938316" y="0"/>
                </a:lnTo>
                <a:lnTo>
                  <a:pt x="0" y="0"/>
                </a:lnTo>
                <a:lnTo>
                  <a:pt x="0" y="9779058"/>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325158" y="-6571393"/>
            <a:ext cx="18938317" cy="9779058"/>
          </a:xfrm>
          <a:custGeom>
            <a:avLst/>
            <a:gdLst/>
            <a:ahLst/>
            <a:cxnLst/>
            <a:rect l="l" t="t" r="r" b="b"/>
            <a:pathLst>
              <a:path w="18938317" h="9779058">
                <a:moveTo>
                  <a:pt x="0" y="0"/>
                </a:moveTo>
                <a:lnTo>
                  <a:pt x="18938316" y="0"/>
                </a:lnTo>
                <a:lnTo>
                  <a:pt x="18938316" y="9779058"/>
                </a:lnTo>
                <a:lnTo>
                  <a:pt x="0" y="977905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6540620" y="2675354"/>
            <a:ext cx="1207047" cy="7200900"/>
          </a:xfrm>
          <a:custGeom>
            <a:avLst/>
            <a:gdLst/>
            <a:ahLst/>
            <a:cxnLst/>
            <a:rect l="l" t="t" r="r" b="b"/>
            <a:pathLst>
              <a:path w="1207047" h="7200900">
                <a:moveTo>
                  <a:pt x="0" y="0"/>
                </a:moveTo>
                <a:lnTo>
                  <a:pt x="1207048" y="0"/>
                </a:lnTo>
                <a:lnTo>
                  <a:pt x="1207048" y="7200900"/>
                </a:lnTo>
                <a:lnTo>
                  <a:pt x="0" y="72009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40332" y="410746"/>
            <a:ext cx="1207047" cy="7200900"/>
          </a:xfrm>
          <a:custGeom>
            <a:avLst/>
            <a:gdLst/>
            <a:ahLst/>
            <a:cxnLst/>
            <a:rect l="l" t="t" r="r" b="b"/>
            <a:pathLst>
              <a:path w="1207047" h="7200900">
                <a:moveTo>
                  <a:pt x="1207048" y="7200900"/>
                </a:moveTo>
                <a:lnTo>
                  <a:pt x="0" y="7200900"/>
                </a:lnTo>
                <a:lnTo>
                  <a:pt x="0" y="0"/>
                </a:lnTo>
                <a:lnTo>
                  <a:pt x="1207048" y="0"/>
                </a:lnTo>
                <a:lnTo>
                  <a:pt x="1207048" y="72009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540332" y="8946022"/>
            <a:ext cx="7315200" cy="624556"/>
          </a:xfrm>
          <a:custGeom>
            <a:avLst/>
            <a:gdLst/>
            <a:ahLst/>
            <a:cxnLst/>
            <a:rect l="l" t="t" r="r" b="b"/>
            <a:pathLst>
              <a:path w="7315200" h="624556">
                <a:moveTo>
                  <a:pt x="0" y="0"/>
                </a:moveTo>
                <a:lnTo>
                  <a:pt x="7315200" y="0"/>
                </a:lnTo>
                <a:lnTo>
                  <a:pt x="7315200" y="624556"/>
                </a:lnTo>
                <a:lnTo>
                  <a:pt x="0" y="62455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flipH="1">
            <a:off x="10432468" y="716422"/>
            <a:ext cx="7315200" cy="624556"/>
          </a:xfrm>
          <a:custGeom>
            <a:avLst/>
            <a:gdLst/>
            <a:ahLst/>
            <a:cxnLst/>
            <a:rect l="l" t="t" r="r" b="b"/>
            <a:pathLst>
              <a:path w="7315200" h="624556">
                <a:moveTo>
                  <a:pt x="7315200" y="0"/>
                </a:moveTo>
                <a:lnTo>
                  <a:pt x="0" y="0"/>
                </a:lnTo>
                <a:lnTo>
                  <a:pt x="0" y="624556"/>
                </a:lnTo>
                <a:lnTo>
                  <a:pt x="7315200" y="624556"/>
                </a:lnTo>
                <a:lnTo>
                  <a:pt x="731520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AutoShape 9"/>
          <p:cNvSpPr/>
          <p:nvPr/>
        </p:nvSpPr>
        <p:spPr>
          <a:xfrm flipV="1">
            <a:off x="1968398" y="1028700"/>
            <a:ext cx="9412889" cy="0"/>
          </a:xfrm>
          <a:prstGeom prst="line">
            <a:avLst/>
          </a:prstGeom>
          <a:ln w="19050" cap="flat">
            <a:solidFill>
              <a:srgbClr val="86EDFF"/>
            </a:solidFill>
            <a:prstDash val="solid"/>
            <a:headEnd type="none" w="sm" len="sm"/>
            <a:tailEnd type="none" w="sm" len="sm"/>
          </a:ln>
        </p:spPr>
      </p:sp>
      <p:sp>
        <p:nvSpPr>
          <p:cNvPr id="10" name="AutoShape 10"/>
          <p:cNvSpPr/>
          <p:nvPr/>
        </p:nvSpPr>
        <p:spPr>
          <a:xfrm>
            <a:off x="6906713" y="9258300"/>
            <a:ext cx="9412889" cy="0"/>
          </a:xfrm>
          <a:prstGeom prst="line">
            <a:avLst/>
          </a:prstGeom>
          <a:ln w="19050" cap="flat">
            <a:solidFill>
              <a:srgbClr val="86EDFF"/>
            </a:solidFill>
            <a:prstDash val="solid"/>
            <a:headEnd type="none" w="sm" len="sm"/>
            <a:tailEnd type="none" w="sm" len="sm"/>
          </a:ln>
        </p:spPr>
      </p:sp>
      <p:sp>
        <p:nvSpPr>
          <p:cNvPr id="11" name="TextBox 11"/>
          <p:cNvSpPr txBox="1"/>
          <p:nvPr/>
        </p:nvSpPr>
        <p:spPr>
          <a:xfrm>
            <a:off x="3573999" y="1564421"/>
            <a:ext cx="11089959" cy="1084206"/>
          </a:xfrm>
          <a:prstGeom prst="rect">
            <a:avLst/>
          </a:prstGeom>
        </p:spPr>
        <p:txBody>
          <a:bodyPr lIns="0" tIns="0" rIns="0" bIns="0" rtlCol="0" anchor="t">
            <a:spAutoFit/>
          </a:bodyPr>
          <a:lstStyle/>
          <a:p>
            <a:pPr marL="0" lvl="0" indent="0" algn="ctr">
              <a:lnSpc>
                <a:spcPts val="8563"/>
              </a:lnSpc>
              <a:spcBef>
                <a:spcPct val="0"/>
              </a:spcBef>
            </a:pPr>
            <a:r>
              <a:rPr lang="en-US" sz="7136" b="1" spc="214" dirty="0">
                <a:solidFill>
                  <a:srgbClr val="FFFFFF"/>
                </a:solidFill>
                <a:latin typeface="Assistant Bold"/>
                <a:ea typeface="Assistant Bold"/>
                <a:cs typeface="Assistant Bold"/>
                <a:sym typeface="Assistant Bold"/>
              </a:rPr>
              <a:t>ARCHITECTURE DEEP DIVE</a:t>
            </a:r>
          </a:p>
        </p:txBody>
      </p:sp>
      <p:sp>
        <p:nvSpPr>
          <p:cNvPr id="12" name="TextBox 12"/>
          <p:cNvSpPr txBox="1"/>
          <p:nvPr/>
        </p:nvSpPr>
        <p:spPr>
          <a:xfrm>
            <a:off x="2176627" y="3431108"/>
            <a:ext cx="14363993" cy="5416868"/>
          </a:xfrm>
          <a:prstGeom prst="rect">
            <a:avLst/>
          </a:prstGeom>
        </p:spPr>
        <p:txBody>
          <a:bodyPr wrap="square" lIns="0" tIns="0" rIns="0" bIns="0" rtlCol="0" anchor="t">
            <a:spAutoFit/>
          </a:bodyPr>
          <a:lstStyle/>
          <a:p>
            <a:r>
              <a:rPr lang="en-IN" sz="3800" b="1" dirty="0">
                <a:solidFill>
                  <a:schemeClr val="bg2"/>
                </a:solidFill>
              </a:rPr>
              <a:t>Azure Load Balancer Architecture:</a:t>
            </a:r>
          </a:p>
          <a:p>
            <a:endParaRPr lang="en-IN" sz="3600" dirty="0">
              <a:solidFill>
                <a:schemeClr val="bg2"/>
              </a:solidFill>
            </a:endParaRPr>
          </a:p>
          <a:p>
            <a:r>
              <a:rPr lang="en-IN" sz="3600" dirty="0">
                <a:solidFill>
                  <a:schemeClr val="bg2"/>
                </a:solidFill>
              </a:rPr>
              <a:t>• Operates at OSI Layer 4 (TCP/UDP), forwarding packets without inspecting content</a:t>
            </a:r>
          </a:p>
          <a:p>
            <a:r>
              <a:rPr lang="en-IN" sz="3600" dirty="0">
                <a:solidFill>
                  <a:schemeClr val="bg2"/>
                </a:solidFill>
              </a:rPr>
              <a:t>• Uses a 5-tuple hash (source IP, source port, destination IP, destination port, protocol) for distribution</a:t>
            </a:r>
          </a:p>
          <a:p>
            <a:r>
              <a:rPr lang="en-IN" sz="3600" dirty="0">
                <a:solidFill>
                  <a:schemeClr val="bg2"/>
                </a:solidFill>
              </a:rPr>
              <a:t>• Frontend IP configuration receives inbound traffic from public or private endpoints</a:t>
            </a:r>
          </a:p>
          <a:p>
            <a:r>
              <a:rPr lang="en-IN" sz="3600" dirty="0">
                <a:solidFill>
                  <a:schemeClr val="bg2"/>
                </a:solidFill>
              </a:rPr>
              <a:t>• Backend pools contain VMs or VM Scale Sets that serve requests</a:t>
            </a:r>
          </a:p>
          <a:p>
            <a:endParaRPr lang="en-IN" sz="2800" dirty="0">
              <a:solidFill>
                <a:schemeClr val="bg2"/>
              </a:solidFill>
            </a:endParaRPr>
          </a:p>
        </p:txBody>
      </p:sp>
      <p:grpSp>
        <p:nvGrpSpPr>
          <p:cNvPr id="15" name="Group 15"/>
          <p:cNvGrpSpPr/>
          <p:nvPr/>
        </p:nvGrpSpPr>
        <p:grpSpPr>
          <a:xfrm>
            <a:off x="16259067" y="9197765"/>
            <a:ext cx="121069" cy="121069"/>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17" name="TextBox 17"/>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grpSp>
        <p:nvGrpSpPr>
          <p:cNvPr id="18" name="Group 18"/>
          <p:cNvGrpSpPr/>
          <p:nvPr/>
        </p:nvGrpSpPr>
        <p:grpSpPr>
          <a:xfrm>
            <a:off x="1907864" y="968165"/>
            <a:ext cx="121069" cy="121069"/>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20" name="TextBox 20"/>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8888" b="-88888"/>
            </a:stretch>
          </a:blipFill>
        </p:spPr>
      </p:sp>
      <p:sp>
        <p:nvSpPr>
          <p:cNvPr id="3" name="Freeform 3"/>
          <p:cNvSpPr/>
          <p:nvPr/>
        </p:nvSpPr>
        <p:spPr>
          <a:xfrm flipV="1">
            <a:off x="-325158" y="7079335"/>
            <a:ext cx="18938317" cy="9779058"/>
          </a:xfrm>
          <a:custGeom>
            <a:avLst/>
            <a:gdLst/>
            <a:ahLst/>
            <a:cxnLst/>
            <a:rect l="l" t="t" r="r" b="b"/>
            <a:pathLst>
              <a:path w="18938317" h="9779058">
                <a:moveTo>
                  <a:pt x="0" y="9779058"/>
                </a:moveTo>
                <a:lnTo>
                  <a:pt x="18938316" y="9779058"/>
                </a:lnTo>
                <a:lnTo>
                  <a:pt x="18938316" y="0"/>
                </a:lnTo>
                <a:lnTo>
                  <a:pt x="0" y="0"/>
                </a:lnTo>
                <a:lnTo>
                  <a:pt x="0" y="9779058"/>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325158" y="-6571393"/>
            <a:ext cx="18938317" cy="9779058"/>
          </a:xfrm>
          <a:custGeom>
            <a:avLst/>
            <a:gdLst/>
            <a:ahLst/>
            <a:cxnLst/>
            <a:rect l="l" t="t" r="r" b="b"/>
            <a:pathLst>
              <a:path w="18938317" h="9779058">
                <a:moveTo>
                  <a:pt x="0" y="0"/>
                </a:moveTo>
                <a:lnTo>
                  <a:pt x="18938316" y="0"/>
                </a:lnTo>
                <a:lnTo>
                  <a:pt x="18938316" y="9779058"/>
                </a:lnTo>
                <a:lnTo>
                  <a:pt x="0" y="977905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6540620" y="2675354"/>
            <a:ext cx="1207047" cy="7200900"/>
          </a:xfrm>
          <a:custGeom>
            <a:avLst/>
            <a:gdLst/>
            <a:ahLst/>
            <a:cxnLst/>
            <a:rect l="l" t="t" r="r" b="b"/>
            <a:pathLst>
              <a:path w="1207047" h="7200900">
                <a:moveTo>
                  <a:pt x="0" y="0"/>
                </a:moveTo>
                <a:lnTo>
                  <a:pt x="1207048" y="0"/>
                </a:lnTo>
                <a:lnTo>
                  <a:pt x="1207048" y="7200900"/>
                </a:lnTo>
                <a:lnTo>
                  <a:pt x="0" y="72009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40332" y="410746"/>
            <a:ext cx="1207047" cy="7200900"/>
          </a:xfrm>
          <a:custGeom>
            <a:avLst/>
            <a:gdLst/>
            <a:ahLst/>
            <a:cxnLst/>
            <a:rect l="l" t="t" r="r" b="b"/>
            <a:pathLst>
              <a:path w="1207047" h="7200900">
                <a:moveTo>
                  <a:pt x="1207048" y="7200900"/>
                </a:moveTo>
                <a:lnTo>
                  <a:pt x="0" y="7200900"/>
                </a:lnTo>
                <a:lnTo>
                  <a:pt x="0" y="0"/>
                </a:lnTo>
                <a:lnTo>
                  <a:pt x="1207048" y="0"/>
                </a:lnTo>
                <a:lnTo>
                  <a:pt x="1207048" y="72009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540332" y="8946022"/>
            <a:ext cx="7315200" cy="624556"/>
          </a:xfrm>
          <a:custGeom>
            <a:avLst/>
            <a:gdLst/>
            <a:ahLst/>
            <a:cxnLst/>
            <a:rect l="l" t="t" r="r" b="b"/>
            <a:pathLst>
              <a:path w="7315200" h="624556">
                <a:moveTo>
                  <a:pt x="0" y="0"/>
                </a:moveTo>
                <a:lnTo>
                  <a:pt x="7315200" y="0"/>
                </a:lnTo>
                <a:lnTo>
                  <a:pt x="7315200" y="624556"/>
                </a:lnTo>
                <a:lnTo>
                  <a:pt x="0" y="62455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flipH="1">
            <a:off x="10432468" y="716422"/>
            <a:ext cx="7315200" cy="624556"/>
          </a:xfrm>
          <a:custGeom>
            <a:avLst/>
            <a:gdLst/>
            <a:ahLst/>
            <a:cxnLst/>
            <a:rect l="l" t="t" r="r" b="b"/>
            <a:pathLst>
              <a:path w="7315200" h="624556">
                <a:moveTo>
                  <a:pt x="7315200" y="0"/>
                </a:moveTo>
                <a:lnTo>
                  <a:pt x="0" y="0"/>
                </a:lnTo>
                <a:lnTo>
                  <a:pt x="0" y="624556"/>
                </a:lnTo>
                <a:lnTo>
                  <a:pt x="7315200" y="624556"/>
                </a:lnTo>
                <a:lnTo>
                  <a:pt x="731520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AutoShape 9"/>
          <p:cNvSpPr/>
          <p:nvPr/>
        </p:nvSpPr>
        <p:spPr>
          <a:xfrm flipV="1">
            <a:off x="1968398" y="1028700"/>
            <a:ext cx="9412889" cy="0"/>
          </a:xfrm>
          <a:prstGeom prst="line">
            <a:avLst/>
          </a:prstGeom>
          <a:ln w="19050" cap="flat">
            <a:solidFill>
              <a:srgbClr val="86EDFF"/>
            </a:solidFill>
            <a:prstDash val="solid"/>
            <a:headEnd type="none" w="sm" len="sm"/>
            <a:tailEnd type="none" w="sm" len="sm"/>
          </a:ln>
        </p:spPr>
      </p:sp>
      <p:sp>
        <p:nvSpPr>
          <p:cNvPr id="10" name="AutoShape 10"/>
          <p:cNvSpPr/>
          <p:nvPr/>
        </p:nvSpPr>
        <p:spPr>
          <a:xfrm>
            <a:off x="6906713" y="9258300"/>
            <a:ext cx="9412889" cy="0"/>
          </a:xfrm>
          <a:prstGeom prst="line">
            <a:avLst/>
          </a:prstGeom>
          <a:ln w="19050" cap="flat">
            <a:solidFill>
              <a:srgbClr val="86EDFF"/>
            </a:solidFill>
            <a:prstDash val="solid"/>
            <a:headEnd type="none" w="sm" len="sm"/>
            <a:tailEnd type="none" w="sm" len="sm"/>
          </a:ln>
        </p:spPr>
      </p:sp>
      <p:sp>
        <p:nvSpPr>
          <p:cNvPr id="11" name="TextBox 11"/>
          <p:cNvSpPr txBox="1"/>
          <p:nvPr/>
        </p:nvSpPr>
        <p:spPr>
          <a:xfrm>
            <a:off x="1759939" y="1746297"/>
            <a:ext cx="15238289" cy="1020344"/>
          </a:xfrm>
          <a:prstGeom prst="rect">
            <a:avLst/>
          </a:prstGeom>
        </p:spPr>
        <p:txBody>
          <a:bodyPr wrap="square" lIns="0" tIns="0" rIns="0" bIns="0" rtlCol="0" anchor="t">
            <a:spAutoFit/>
          </a:bodyPr>
          <a:lstStyle/>
          <a:p>
            <a:pPr marL="0" lvl="0" indent="0" algn="ctr">
              <a:lnSpc>
                <a:spcPts val="7838"/>
              </a:lnSpc>
              <a:spcBef>
                <a:spcPct val="0"/>
              </a:spcBef>
            </a:pPr>
            <a:r>
              <a:rPr lang="en-US" sz="8000" b="1" spc="195" dirty="0">
                <a:solidFill>
                  <a:srgbClr val="FFFFFF"/>
                </a:solidFill>
                <a:latin typeface="Assistant Bold"/>
                <a:ea typeface="Assistant Bold"/>
                <a:cs typeface="Assistant Bold"/>
                <a:sym typeface="Assistant Bold"/>
              </a:rPr>
              <a:t>TRAFFIC LAYER COMPARISON</a:t>
            </a:r>
          </a:p>
        </p:txBody>
      </p:sp>
      <p:sp>
        <p:nvSpPr>
          <p:cNvPr id="15" name="TextBox 15"/>
          <p:cNvSpPr txBox="1"/>
          <p:nvPr/>
        </p:nvSpPr>
        <p:spPr>
          <a:xfrm>
            <a:off x="3759505" y="3423704"/>
            <a:ext cx="11253659" cy="2667397"/>
          </a:xfrm>
          <a:prstGeom prst="rect">
            <a:avLst/>
          </a:prstGeom>
        </p:spPr>
        <p:txBody>
          <a:bodyPr wrap="square" lIns="0" tIns="0" rIns="0" bIns="0" rtlCol="0" anchor="t">
            <a:spAutoFit/>
          </a:bodyPr>
          <a:lstStyle/>
          <a:p>
            <a:pPr marL="0" lvl="0" indent="0" algn="l">
              <a:lnSpc>
                <a:spcPts val="2573"/>
              </a:lnSpc>
              <a:spcBef>
                <a:spcPct val="0"/>
              </a:spcBef>
            </a:pPr>
            <a:r>
              <a:rPr lang="en-US" sz="2800" b="1" spc="21" dirty="0">
                <a:solidFill>
                  <a:srgbClr val="FFFFFF"/>
                </a:solidFill>
                <a:latin typeface="Arimo"/>
                <a:ea typeface="Arimo"/>
                <a:cs typeface="Arimo"/>
                <a:sym typeface="Arimo"/>
              </a:rPr>
              <a:t>Layer 4 — TCP/UDP (Azure Load Balancer):</a:t>
            </a:r>
          </a:p>
          <a:p>
            <a:pPr marL="0" lvl="0" indent="0" algn="l">
              <a:lnSpc>
                <a:spcPts val="2573"/>
              </a:lnSpc>
              <a:spcBef>
                <a:spcPct val="0"/>
              </a:spcBef>
            </a:pPr>
            <a:r>
              <a:rPr lang="en-US" sz="2400" spc="21" dirty="0">
                <a:solidFill>
                  <a:srgbClr val="FFFFFF"/>
                </a:solidFill>
                <a:latin typeface="Arimo"/>
                <a:ea typeface="Arimo"/>
                <a:cs typeface="Arimo"/>
                <a:sym typeface="Arimo"/>
              </a:rPr>
              <a:t>Operates at the Transport Layer, routing traffic based on IP address and port number. Handles high-throughput TCP and UDP connections with ultra-low latency. No awareness of application content or HTTP headers — purely network-level forwarding. Ideal for non-HTTP workloads such as databases, gaming servers, and raw socket connections.</a:t>
            </a:r>
          </a:p>
          <a:p>
            <a:pPr marL="0" lvl="0" indent="0" algn="l">
              <a:lnSpc>
                <a:spcPts val="2573"/>
              </a:lnSpc>
              <a:spcBef>
                <a:spcPct val="0"/>
              </a:spcBef>
            </a:pPr>
            <a:endParaRPr lang="en-US" sz="2400" spc="21" dirty="0">
              <a:solidFill>
                <a:srgbClr val="FFFFFF"/>
              </a:solidFill>
              <a:latin typeface="Arimo"/>
              <a:ea typeface="Arimo"/>
              <a:cs typeface="Arimo"/>
              <a:sym typeface="Arimo"/>
            </a:endParaRPr>
          </a:p>
          <a:p>
            <a:pPr marL="0" lvl="0" indent="0" algn="l">
              <a:lnSpc>
                <a:spcPts val="2573"/>
              </a:lnSpc>
              <a:spcBef>
                <a:spcPct val="0"/>
              </a:spcBef>
            </a:pPr>
            <a:endParaRPr lang="en-US" sz="2400" spc="21" dirty="0">
              <a:solidFill>
                <a:srgbClr val="FFFFFF"/>
              </a:solidFill>
              <a:latin typeface="Arimo"/>
              <a:ea typeface="Arimo"/>
              <a:cs typeface="Arimo"/>
              <a:sym typeface="Arimo"/>
            </a:endParaRPr>
          </a:p>
        </p:txBody>
      </p:sp>
      <p:sp>
        <p:nvSpPr>
          <p:cNvPr id="19" name="TextBox 19"/>
          <p:cNvSpPr txBox="1"/>
          <p:nvPr/>
        </p:nvSpPr>
        <p:spPr>
          <a:xfrm>
            <a:off x="3759505" y="5829301"/>
            <a:ext cx="11253659" cy="2333972"/>
          </a:xfrm>
          <a:prstGeom prst="rect">
            <a:avLst/>
          </a:prstGeom>
        </p:spPr>
        <p:txBody>
          <a:bodyPr wrap="square" lIns="0" tIns="0" rIns="0" bIns="0" rtlCol="0" anchor="t">
            <a:spAutoFit/>
          </a:bodyPr>
          <a:lstStyle/>
          <a:p>
            <a:pPr marL="0" lvl="0" indent="0" algn="l">
              <a:lnSpc>
                <a:spcPts val="2573"/>
              </a:lnSpc>
              <a:spcBef>
                <a:spcPct val="0"/>
              </a:spcBef>
            </a:pPr>
            <a:endParaRPr lang="en-US" sz="2800" spc="21" dirty="0">
              <a:solidFill>
                <a:srgbClr val="FFFFFF"/>
              </a:solidFill>
              <a:latin typeface="Arimo"/>
              <a:ea typeface="Arimo"/>
              <a:cs typeface="Arimo"/>
              <a:sym typeface="Arimo"/>
            </a:endParaRPr>
          </a:p>
          <a:p>
            <a:pPr marL="0" lvl="0" indent="0" algn="l">
              <a:lnSpc>
                <a:spcPts val="2573"/>
              </a:lnSpc>
              <a:spcBef>
                <a:spcPct val="0"/>
              </a:spcBef>
            </a:pPr>
            <a:r>
              <a:rPr lang="en-US" sz="2800" b="1" spc="21" dirty="0">
                <a:solidFill>
                  <a:srgbClr val="FFFFFF"/>
                </a:solidFill>
                <a:latin typeface="Arimo"/>
                <a:ea typeface="Arimo"/>
                <a:cs typeface="Arimo"/>
                <a:sym typeface="Arimo"/>
              </a:rPr>
              <a:t>Layer 7 — HTTP/HTTPS (Azure Application Gateway):</a:t>
            </a:r>
          </a:p>
          <a:p>
            <a:pPr marL="0" lvl="0" indent="0" algn="l">
              <a:lnSpc>
                <a:spcPts val="2573"/>
              </a:lnSpc>
              <a:spcBef>
                <a:spcPct val="0"/>
              </a:spcBef>
            </a:pPr>
            <a:r>
              <a:rPr lang="en-US" sz="2400" spc="21" dirty="0">
                <a:solidFill>
                  <a:srgbClr val="FFFFFF"/>
                </a:solidFill>
                <a:latin typeface="Arimo"/>
                <a:ea typeface="Arimo"/>
                <a:cs typeface="Arimo"/>
                <a:sym typeface="Arimo"/>
              </a:rPr>
              <a:t>Operates at the Application Layer, making intelligent routing decisions based on URL paths, hostnames, and HTTP headers. Supports SSL/TLS termination, cookie-based session affinity, and Web Application Firewall (WAF). Designed for web applications requiring content-aware traffic distribution and advanced security filtering.</a:t>
            </a:r>
          </a:p>
        </p:txBody>
      </p:sp>
      <p:grpSp>
        <p:nvGrpSpPr>
          <p:cNvPr id="21" name="Group 21"/>
          <p:cNvGrpSpPr/>
          <p:nvPr/>
        </p:nvGrpSpPr>
        <p:grpSpPr>
          <a:xfrm>
            <a:off x="16259067" y="9197765"/>
            <a:ext cx="121069" cy="12106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23" name="TextBox 23"/>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grpSp>
        <p:nvGrpSpPr>
          <p:cNvPr id="24" name="Group 24"/>
          <p:cNvGrpSpPr/>
          <p:nvPr/>
        </p:nvGrpSpPr>
        <p:grpSpPr>
          <a:xfrm>
            <a:off x="1907864" y="968165"/>
            <a:ext cx="121069" cy="12106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26" name="TextBox 26"/>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grpSp>
        <p:nvGrpSpPr>
          <p:cNvPr id="27" name="Group 27"/>
          <p:cNvGrpSpPr/>
          <p:nvPr/>
        </p:nvGrpSpPr>
        <p:grpSpPr>
          <a:xfrm>
            <a:off x="3354976" y="4094485"/>
            <a:ext cx="244045" cy="244045"/>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1558"/>
            </a:solidFill>
          </p:spPr>
        </p:sp>
        <p:sp>
          <p:nvSpPr>
            <p:cNvPr id="29" name="TextBox 29"/>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125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88888" b="-88888"/>
            </a:stretch>
          </a:blipFill>
        </p:spPr>
      </p:sp>
      <p:sp>
        <p:nvSpPr>
          <p:cNvPr id="3" name="Freeform 3"/>
          <p:cNvSpPr/>
          <p:nvPr/>
        </p:nvSpPr>
        <p:spPr>
          <a:xfrm flipV="1">
            <a:off x="-325158" y="7079335"/>
            <a:ext cx="18938317" cy="9779058"/>
          </a:xfrm>
          <a:custGeom>
            <a:avLst/>
            <a:gdLst/>
            <a:ahLst/>
            <a:cxnLst/>
            <a:rect l="l" t="t" r="r" b="b"/>
            <a:pathLst>
              <a:path w="18938317" h="9779058">
                <a:moveTo>
                  <a:pt x="0" y="9779058"/>
                </a:moveTo>
                <a:lnTo>
                  <a:pt x="18938316" y="9779058"/>
                </a:lnTo>
                <a:lnTo>
                  <a:pt x="18938316" y="0"/>
                </a:lnTo>
                <a:lnTo>
                  <a:pt x="0" y="0"/>
                </a:lnTo>
                <a:lnTo>
                  <a:pt x="0" y="9779058"/>
                </a:lnTo>
                <a:close/>
              </a:path>
            </a:pathLst>
          </a:custGeom>
          <a:blipFill>
            <a:blip>
              <a:extLst>
                <a:ext uri="{96DAC541-7B7A-43D3-8B79-37D633B846F1}">
                  <asvg:svgBlip xmlns:asvg="http://schemas.microsoft.com/office/drawing/2016/SVG/main" r:embed="rId4"/>
                </a:ext>
              </a:extLst>
            </a:blip>
            <a:stretch>
              <a:fillRect/>
            </a:stretch>
          </a:blipFill>
        </p:spPr>
      </p:sp>
      <p:sp>
        <p:nvSpPr>
          <p:cNvPr id="4" name="Freeform 4"/>
          <p:cNvSpPr/>
          <p:nvPr/>
        </p:nvSpPr>
        <p:spPr>
          <a:xfrm>
            <a:off x="-325158" y="-6571393"/>
            <a:ext cx="18938317" cy="9779058"/>
          </a:xfrm>
          <a:custGeom>
            <a:avLst/>
            <a:gdLst/>
            <a:ahLst/>
            <a:cxnLst/>
            <a:rect l="l" t="t" r="r" b="b"/>
            <a:pathLst>
              <a:path w="18938317" h="9779058">
                <a:moveTo>
                  <a:pt x="0" y="0"/>
                </a:moveTo>
                <a:lnTo>
                  <a:pt x="18938316" y="0"/>
                </a:lnTo>
                <a:lnTo>
                  <a:pt x="18938316" y="9779058"/>
                </a:lnTo>
                <a:lnTo>
                  <a:pt x="0" y="977905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6540620" y="2675354"/>
            <a:ext cx="1207047" cy="7200900"/>
          </a:xfrm>
          <a:custGeom>
            <a:avLst/>
            <a:gdLst/>
            <a:ahLst/>
            <a:cxnLst/>
            <a:rect l="l" t="t" r="r" b="b"/>
            <a:pathLst>
              <a:path w="1207047" h="7200900">
                <a:moveTo>
                  <a:pt x="0" y="0"/>
                </a:moveTo>
                <a:lnTo>
                  <a:pt x="1207048" y="0"/>
                </a:lnTo>
                <a:lnTo>
                  <a:pt x="1207048" y="7200900"/>
                </a:lnTo>
                <a:lnTo>
                  <a:pt x="0" y="72009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flipH="1" flipV="1">
            <a:off x="540332" y="410746"/>
            <a:ext cx="1207047" cy="7200900"/>
          </a:xfrm>
          <a:custGeom>
            <a:avLst/>
            <a:gdLst/>
            <a:ahLst/>
            <a:cxnLst/>
            <a:rect l="l" t="t" r="r" b="b"/>
            <a:pathLst>
              <a:path w="1207047" h="7200900">
                <a:moveTo>
                  <a:pt x="1207048" y="7200900"/>
                </a:moveTo>
                <a:lnTo>
                  <a:pt x="0" y="7200900"/>
                </a:lnTo>
                <a:lnTo>
                  <a:pt x="0" y="0"/>
                </a:lnTo>
                <a:lnTo>
                  <a:pt x="1207048" y="0"/>
                </a:lnTo>
                <a:lnTo>
                  <a:pt x="1207048" y="720090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a:off x="540332" y="8946022"/>
            <a:ext cx="7315200" cy="624556"/>
          </a:xfrm>
          <a:custGeom>
            <a:avLst/>
            <a:gdLst/>
            <a:ahLst/>
            <a:cxnLst/>
            <a:rect l="l" t="t" r="r" b="b"/>
            <a:pathLst>
              <a:path w="7315200" h="624556">
                <a:moveTo>
                  <a:pt x="0" y="0"/>
                </a:moveTo>
                <a:lnTo>
                  <a:pt x="7315200" y="0"/>
                </a:lnTo>
                <a:lnTo>
                  <a:pt x="7315200" y="624556"/>
                </a:lnTo>
                <a:lnTo>
                  <a:pt x="0" y="62455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 name="Freeform 8"/>
          <p:cNvSpPr/>
          <p:nvPr/>
        </p:nvSpPr>
        <p:spPr>
          <a:xfrm flipH="1">
            <a:off x="10432468" y="716422"/>
            <a:ext cx="7315200" cy="624556"/>
          </a:xfrm>
          <a:custGeom>
            <a:avLst/>
            <a:gdLst/>
            <a:ahLst/>
            <a:cxnLst/>
            <a:rect l="l" t="t" r="r" b="b"/>
            <a:pathLst>
              <a:path w="7315200" h="624556">
                <a:moveTo>
                  <a:pt x="7315200" y="0"/>
                </a:moveTo>
                <a:lnTo>
                  <a:pt x="0" y="0"/>
                </a:lnTo>
                <a:lnTo>
                  <a:pt x="0" y="624556"/>
                </a:lnTo>
                <a:lnTo>
                  <a:pt x="7315200" y="624556"/>
                </a:lnTo>
                <a:lnTo>
                  <a:pt x="7315200" y="0"/>
                </a:lnTo>
                <a:close/>
              </a:path>
            </a:pathLst>
          </a:custGeom>
          <a:blipFill>
            <a:blip>
              <a:extLst>
                <a:ext uri="{96DAC541-7B7A-43D3-8B79-37D633B846F1}">
                  <asvg:svgBlip xmlns:asvg="http://schemas.microsoft.com/office/drawing/2016/SVG/main" r:embed="rId6"/>
                </a:ext>
              </a:extLst>
            </a:blip>
            <a:stretch>
              <a:fillRect/>
            </a:stretch>
          </a:blipFill>
        </p:spPr>
      </p:sp>
      <p:sp>
        <p:nvSpPr>
          <p:cNvPr id="9" name="AutoShape 9"/>
          <p:cNvSpPr/>
          <p:nvPr/>
        </p:nvSpPr>
        <p:spPr>
          <a:xfrm flipV="1">
            <a:off x="1968398" y="1028700"/>
            <a:ext cx="9412889" cy="0"/>
          </a:xfrm>
          <a:prstGeom prst="line">
            <a:avLst/>
          </a:prstGeom>
          <a:ln w="19050" cap="flat">
            <a:solidFill>
              <a:srgbClr val="86EDFF"/>
            </a:solidFill>
            <a:prstDash val="solid"/>
            <a:headEnd type="none" w="sm" len="sm"/>
            <a:tailEnd type="none" w="sm" len="sm"/>
          </a:ln>
        </p:spPr>
      </p:sp>
      <p:sp>
        <p:nvSpPr>
          <p:cNvPr id="10" name="AutoShape 10"/>
          <p:cNvSpPr/>
          <p:nvPr/>
        </p:nvSpPr>
        <p:spPr>
          <a:xfrm>
            <a:off x="6906713" y="9258300"/>
            <a:ext cx="9412889" cy="0"/>
          </a:xfrm>
          <a:prstGeom prst="line">
            <a:avLst/>
          </a:prstGeom>
          <a:ln w="19050" cap="flat">
            <a:solidFill>
              <a:srgbClr val="86EDFF"/>
            </a:solidFill>
            <a:prstDash val="solid"/>
            <a:headEnd type="none" w="sm" len="sm"/>
            <a:tailEnd type="none" w="sm" len="sm"/>
          </a:ln>
        </p:spPr>
      </p:sp>
      <p:sp>
        <p:nvSpPr>
          <p:cNvPr id="12" name="TextBox 12"/>
          <p:cNvSpPr txBox="1"/>
          <p:nvPr/>
        </p:nvSpPr>
        <p:spPr>
          <a:xfrm>
            <a:off x="3599021" y="2356896"/>
            <a:ext cx="11089959" cy="1216099"/>
          </a:xfrm>
          <a:prstGeom prst="rect">
            <a:avLst/>
          </a:prstGeom>
        </p:spPr>
        <p:txBody>
          <a:bodyPr lIns="0" tIns="0" rIns="0" bIns="0" rtlCol="0" anchor="t">
            <a:spAutoFit/>
          </a:bodyPr>
          <a:lstStyle/>
          <a:p>
            <a:pPr marL="0" lvl="0" indent="0" algn="ctr">
              <a:lnSpc>
                <a:spcPts val="9683"/>
              </a:lnSpc>
              <a:spcBef>
                <a:spcPct val="0"/>
              </a:spcBef>
            </a:pPr>
            <a:r>
              <a:rPr lang="en-US" sz="8069" b="1" spc="242">
                <a:solidFill>
                  <a:srgbClr val="FFFFFF"/>
                </a:solidFill>
                <a:latin typeface="Assistant Bold"/>
                <a:ea typeface="Assistant Bold"/>
                <a:cs typeface="Assistant Bold"/>
                <a:sym typeface="Assistant Bold"/>
              </a:rPr>
              <a:t>ROUTING MECHANISMS</a:t>
            </a:r>
          </a:p>
        </p:txBody>
      </p:sp>
      <p:sp>
        <p:nvSpPr>
          <p:cNvPr id="13" name="TextBox 13"/>
          <p:cNvSpPr txBox="1"/>
          <p:nvPr/>
        </p:nvSpPr>
        <p:spPr>
          <a:xfrm>
            <a:off x="3124208" y="3661111"/>
            <a:ext cx="5828538" cy="5047536"/>
          </a:xfrm>
          <a:prstGeom prst="rect">
            <a:avLst/>
          </a:prstGeom>
        </p:spPr>
        <p:txBody>
          <a:bodyPr wrap="square" lIns="0" tIns="0" rIns="0" bIns="0" rtlCol="0" anchor="t">
            <a:spAutoFit/>
          </a:bodyPr>
          <a:lstStyle/>
          <a:p>
            <a:r>
              <a:rPr lang="en-IN" sz="3200" b="1" u="sng" dirty="0">
                <a:solidFill>
                  <a:schemeClr val="bg2"/>
                </a:solidFill>
              </a:rPr>
              <a:t>Azure Load Balancer</a:t>
            </a:r>
          </a:p>
          <a:p>
            <a:r>
              <a:rPr lang="en-IN" sz="2800" b="1" dirty="0">
                <a:solidFill>
                  <a:schemeClr val="bg2"/>
                </a:solidFill>
              </a:rPr>
              <a:t>(Layer 4 Hash-Based Routing)</a:t>
            </a:r>
          </a:p>
          <a:p>
            <a:endParaRPr lang="en-IN" sz="2800" b="1" dirty="0">
              <a:solidFill>
                <a:schemeClr val="bg2"/>
              </a:solidFill>
            </a:endParaRPr>
          </a:p>
          <a:p>
            <a:r>
              <a:rPr lang="en-IN" sz="2400" dirty="0">
                <a:solidFill>
                  <a:schemeClr val="bg2"/>
                </a:solidFill>
              </a:rPr>
              <a:t>• Uses a 5-tuple hash: source IP, source port, destination IP, destination port, and protocol</a:t>
            </a:r>
          </a:p>
          <a:p>
            <a:r>
              <a:rPr lang="en-IN" sz="2400" dirty="0">
                <a:solidFill>
                  <a:schemeClr val="bg2"/>
                </a:solidFill>
              </a:rPr>
              <a:t>• Distributes traffic evenly across backend VM pool</a:t>
            </a:r>
          </a:p>
          <a:p>
            <a:r>
              <a:rPr lang="en-IN" sz="2400" dirty="0">
                <a:solidFill>
                  <a:schemeClr val="bg2"/>
                </a:solidFill>
              </a:rPr>
              <a:t>• No awareness of HTTP headers, URLs, or cookies</a:t>
            </a:r>
          </a:p>
          <a:p>
            <a:r>
              <a:rPr lang="en-IN" sz="2400" dirty="0">
                <a:solidFill>
                  <a:schemeClr val="bg2"/>
                </a:solidFill>
              </a:rPr>
              <a:t>• Session persistence via client IP affinity (optional)</a:t>
            </a:r>
          </a:p>
          <a:p>
            <a:r>
              <a:rPr lang="en-IN" sz="2400" dirty="0">
                <a:solidFill>
                  <a:schemeClr val="bg2"/>
                </a:solidFill>
              </a:rPr>
              <a:t>• Ideal for TCP/UDP workloads requiring fast, stateless distribution</a:t>
            </a:r>
          </a:p>
        </p:txBody>
      </p:sp>
      <p:sp>
        <p:nvSpPr>
          <p:cNvPr id="17" name="TextBox 17"/>
          <p:cNvSpPr txBox="1"/>
          <p:nvPr/>
        </p:nvSpPr>
        <p:spPr>
          <a:xfrm>
            <a:off x="9866938" y="3661111"/>
            <a:ext cx="5752339" cy="5047536"/>
          </a:xfrm>
          <a:prstGeom prst="rect">
            <a:avLst/>
          </a:prstGeom>
        </p:spPr>
        <p:txBody>
          <a:bodyPr wrap="square" lIns="0" tIns="0" rIns="0" bIns="0" rtlCol="0" anchor="t">
            <a:spAutoFit/>
          </a:bodyPr>
          <a:lstStyle/>
          <a:p>
            <a:r>
              <a:rPr lang="en-IN" sz="3200" b="1" u="sng" dirty="0">
                <a:solidFill>
                  <a:schemeClr val="bg2"/>
                </a:solidFill>
              </a:rPr>
              <a:t>Azure Application Gateway</a:t>
            </a:r>
          </a:p>
          <a:p>
            <a:r>
              <a:rPr lang="en-IN" sz="2800" b="1" dirty="0">
                <a:solidFill>
                  <a:schemeClr val="bg2"/>
                </a:solidFill>
              </a:rPr>
              <a:t>(Layer 7 Path-Based Routing)</a:t>
            </a:r>
          </a:p>
          <a:p>
            <a:endParaRPr lang="en-IN" sz="2800" b="1" dirty="0">
              <a:solidFill>
                <a:schemeClr val="bg2"/>
              </a:solidFill>
            </a:endParaRPr>
          </a:p>
          <a:p>
            <a:r>
              <a:rPr lang="en-IN" sz="2400" dirty="0">
                <a:solidFill>
                  <a:schemeClr val="bg2"/>
                </a:solidFill>
              </a:rPr>
              <a:t>• Routes based on URL path, hostname, HTTP headers, and query strings</a:t>
            </a:r>
          </a:p>
          <a:p>
            <a:r>
              <a:rPr lang="en-IN" sz="2400" dirty="0">
                <a:solidFill>
                  <a:schemeClr val="bg2"/>
                </a:solidFill>
              </a:rPr>
              <a:t>• Supports path-based rules (e.g., /images → Pool A, /</a:t>
            </a:r>
            <a:r>
              <a:rPr lang="en-IN" sz="2400" dirty="0" err="1">
                <a:solidFill>
                  <a:schemeClr val="bg2"/>
                </a:solidFill>
              </a:rPr>
              <a:t>api</a:t>
            </a:r>
            <a:r>
              <a:rPr lang="en-IN" sz="2400" dirty="0">
                <a:solidFill>
                  <a:schemeClr val="bg2"/>
                </a:solidFill>
              </a:rPr>
              <a:t> → Pool B)</a:t>
            </a:r>
          </a:p>
          <a:p>
            <a:r>
              <a:rPr lang="en-IN" sz="2400" dirty="0">
                <a:solidFill>
                  <a:schemeClr val="bg2"/>
                </a:solidFill>
              </a:rPr>
              <a:t>• Enables multi-site hosting on a single gateway</a:t>
            </a:r>
          </a:p>
          <a:p>
            <a:r>
              <a:rPr lang="en-IN" sz="2400" dirty="0">
                <a:solidFill>
                  <a:schemeClr val="bg2"/>
                </a:solidFill>
              </a:rPr>
              <a:t>• Cookie-based session affinity for stateful applications</a:t>
            </a:r>
          </a:p>
          <a:p>
            <a:r>
              <a:rPr lang="en-IN" sz="2400" dirty="0">
                <a:solidFill>
                  <a:schemeClr val="bg2"/>
                </a:solidFill>
              </a:rPr>
              <a:t>• Ideal for HTTP/HTTPS workloads requiring intelligent, content-aware routing</a:t>
            </a:r>
          </a:p>
        </p:txBody>
      </p:sp>
      <p:grpSp>
        <p:nvGrpSpPr>
          <p:cNvPr id="21" name="Group 21"/>
          <p:cNvGrpSpPr/>
          <p:nvPr/>
        </p:nvGrpSpPr>
        <p:grpSpPr>
          <a:xfrm>
            <a:off x="16259067" y="9197765"/>
            <a:ext cx="121069" cy="12106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23" name="TextBox 23"/>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grpSp>
        <p:nvGrpSpPr>
          <p:cNvPr id="24" name="Group 24"/>
          <p:cNvGrpSpPr/>
          <p:nvPr/>
        </p:nvGrpSpPr>
        <p:grpSpPr>
          <a:xfrm>
            <a:off x="1907864" y="968165"/>
            <a:ext cx="121069" cy="12106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26" name="TextBox 26"/>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cxnSp>
        <p:nvCxnSpPr>
          <p:cNvPr id="34" name="Straight Connector 33">
            <a:extLst>
              <a:ext uri="{FF2B5EF4-FFF2-40B4-BE49-F238E27FC236}">
                <a16:creationId xmlns:a16="http://schemas.microsoft.com/office/drawing/2014/main" id="{B21942F1-CBE0-8345-5553-24E133988A2E}"/>
              </a:ext>
            </a:extLst>
          </p:cNvPr>
          <p:cNvCxnSpPr/>
          <p:nvPr/>
        </p:nvCxnSpPr>
        <p:spPr>
          <a:xfrm>
            <a:off x="8952745" y="3572995"/>
            <a:ext cx="0" cy="529825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8888" b="-88888"/>
            </a:stretch>
          </a:blipFill>
        </p:spPr>
        <p:txBody>
          <a:bodyPr/>
          <a:lstStyle/>
          <a:p>
            <a:endParaRPr lang="en-US" dirty="0"/>
          </a:p>
        </p:txBody>
      </p:sp>
      <p:sp>
        <p:nvSpPr>
          <p:cNvPr id="3" name="Freeform 3"/>
          <p:cNvSpPr/>
          <p:nvPr/>
        </p:nvSpPr>
        <p:spPr>
          <a:xfrm flipV="1">
            <a:off x="-325158" y="7079335"/>
            <a:ext cx="18938317" cy="9779058"/>
          </a:xfrm>
          <a:custGeom>
            <a:avLst/>
            <a:gdLst/>
            <a:ahLst/>
            <a:cxnLst/>
            <a:rect l="l" t="t" r="r" b="b"/>
            <a:pathLst>
              <a:path w="18938317" h="9779058">
                <a:moveTo>
                  <a:pt x="0" y="9779058"/>
                </a:moveTo>
                <a:lnTo>
                  <a:pt x="18938316" y="9779058"/>
                </a:lnTo>
                <a:lnTo>
                  <a:pt x="18938316" y="0"/>
                </a:lnTo>
                <a:lnTo>
                  <a:pt x="0" y="0"/>
                </a:lnTo>
                <a:lnTo>
                  <a:pt x="0" y="9779058"/>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325158" y="-6571393"/>
            <a:ext cx="18938317" cy="9779058"/>
          </a:xfrm>
          <a:custGeom>
            <a:avLst/>
            <a:gdLst/>
            <a:ahLst/>
            <a:cxnLst/>
            <a:rect l="l" t="t" r="r" b="b"/>
            <a:pathLst>
              <a:path w="18938317" h="9779058">
                <a:moveTo>
                  <a:pt x="0" y="0"/>
                </a:moveTo>
                <a:lnTo>
                  <a:pt x="18938316" y="0"/>
                </a:lnTo>
                <a:lnTo>
                  <a:pt x="18938316" y="9779058"/>
                </a:lnTo>
                <a:lnTo>
                  <a:pt x="0" y="977905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6540620" y="2675354"/>
            <a:ext cx="1207047" cy="7200900"/>
          </a:xfrm>
          <a:custGeom>
            <a:avLst/>
            <a:gdLst/>
            <a:ahLst/>
            <a:cxnLst/>
            <a:rect l="l" t="t" r="r" b="b"/>
            <a:pathLst>
              <a:path w="1207047" h="7200900">
                <a:moveTo>
                  <a:pt x="0" y="0"/>
                </a:moveTo>
                <a:lnTo>
                  <a:pt x="1207048" y="0"/>
                </a:lnTo>
                <a:lnTo>
                  <a:pt x="1207048" y="7200900"/>
                </a:lnTo>
                <a:lnTo>
                  <a:pt x="0" y="72009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40332" y="410746"/>
            <a:ext cx="1207047" cy="7200900"/>
          </a:xfrm>
          <a:custGeom>
            <a:avLst/>
            <a:gdLst/>
            <a:ahLst/>
            <a:cxnLst/>
            <a:rect l="l" t="t" r="r" b="b"/>
            <a:pathLst>
              <a:path w="1207047" h="7200900">
                <a:moveTo>
                  <a:pt x="1207048" y="7200900"/>
                </a:moveTo>
                <a:lnTo>
                  <a:pt x="0" y="7200900"/>
                </a:lnTo>
                <a:lnTo>
                  <a:pt x="0" y="0"/>
                </a:lnTo>
                <a:lnTo>
                  <a:pt x="1207048" y="0"/>
                </a:lnTo>
                <a:lnTo>
                  <a:pt x="1207048" y="72009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540332" y="8946022"/>
            <a:ext cx="7315200" cy="624556"/>
          </a:xfrm>
          <a:custGeom>
            <a:avLst/>
            <a:gdLst/>
            <a:ahLst/>
            <a:cxnLst/>
            <a:rect l="l" t="t" r="r" b="b"/>
            <a:pathLst>
              <a:path w="7315200" h="624556">
                <a:moveTo>
                  <a:pt x="0" y="0"/>
                </a:moveTo>
                <a:lnTo>
                  <a:pt x="7315200" y="0"/>
                </a:lnTo>
                <a:lnTo>
                  <a:pt x="7315200" y="624556"/>
                </a:lnTo>
                <a:lnTo>
                  <a:pt x="0" y="62455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flipH="1">
            <a:off x="10432468" y="716422"/>
            <a:ext cx="7315200" cy="624556"/>
          </a:xfrm>
          <a:custGeom>
            <a:avLst/>
            <a:gdLst/>
            <a:ahLst/>
            <a:cxnLst/>
            <a:rect l="l" t="t" r="r" b="b"/>
            <a:pathLst>
              <a:path w="7315200" h="624556">
                <a:moveTo>
                  <a:pt x="7315200" y="0"/>
                </a:moveTo>
                <a:lnTo>
                  <a:pt x="0" y="0"/>
                </a:lnTo>
                <a:lnTo>
                  <a:pt x="0" y="624556"/>
                </a:lnTo>
                <a:lnTo>
                  <a:pt x="7315200" y="624556"/>
                </a:lnTo>
                <a:lnTo>
                  <a:pt x="731520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AutoShape 9"/>
          <p:cNvSpPr/>
          <p:nvPr/>
        </p:nvSpPr>
        <p:spPr>
          <a:xfrm flipV="1">
            <a:off x="1968398" y="1028700"/>
            <a:ext cx="9412889" cy="0"/>
          </a:xfrm>
          <a:prstGeom prst="line">
            <a:avLst/>
          </a:prstGeom>
          <a:ln w="19050" cap="flat">
            <a:solidFill>
              <a:srgbClr val="86EDFF"/>
            </a:solidFill>
            <a:prstDash val="solid"/>
            <a:headEnd type="none" w="sm" len="sm"/>
            <a:tailEnd type="none" w="sm" len="sm"/>
          </a:ln>
        </p:spPr>
      </p:sp>
      <p:sp>
        <p:nvSpPr>
          <p:cNvPr id="10" name="AutoShape 10"/>
          <p:cNvSpPr/>
          <p:nvPr/>
        </p:nvSpPr>
        <p:spPr>
          <a:xfrm>
            <a:off x="6906713" y="9258300"/>
            <a:ext cx="9412889" cy="0"/>
          </a:xfrm>
          <a:prstGeom prst="line">
            <a:avLst/>
          </a:prstGeom>
          <a:ln w="19050" cap="flat">
            <a:solidFill>
              <a:srgbClr val="86EDFF"/>
            </a:solidFill>
            <a:prstDash val="solid"/>
            <a:headEnd type="none" w="sm" len="sm"/>
            <a:tailEnd type="none" w="sm" len="sm"/>
          </a:ln>
        </p:spPr>
      </p:sp>
      <p:sp>
        <p:nvSpPr>
          <p:cNvPr id="12" name="TextBox 12"/>
          <p:cNvSpPr txBox="1"/>
          <p:nvPr/>
        </p:nvSpPr>
        <p:spPr>
          <a:xfrm>
            <a:off x="2085555" y="1953600"/>
            <a:ext cx="14711858" cy="1218282"/>
          </a:xfrm>
          <a:prstGeom prst="rect">
            <a:avLst/>
          </a:prstGeom>
        </p:spPr>
        <p:txBody>
          <a:bodyPr wrap="square" lIns="0" tIns="0" rIns="0" bIns="0" rtlCol="0" anchor="t">
            <a:spAutoFit/>
          </a:bodyPr>
          <a:lstStyle/>
          <a:p>
            <a:pPr marL="0" lvl="0" indent="0" algn="ctr">
              <a:lnSpc>
                <a:spcPts val="9486"/>
              </a:lnSpc>
              <a:spcBef>
                <a:spcPct val="0"/>
              </a:spcBef>
            </a:pPr>
            <a:r>
              <a:rPr lang="en-US" sz="8000" b="1" spc="237" dirty="0">
                <a:solidFill>
                  <a:srgbClr val="FFFFFF"/>
                </a:solidFill>
                <a:latin typeface="Assistant Bold"/>
                <a:ea typeface="Assistant Bold"/>
                <a:cs typeface="Assistant Bold"/>
                <a:sym typeface="Assistant Bold"/>
              </a:rPr>
              <a:t>SECURITY COMPARISON</a:t>
            </a:r>
          </a:p>
        </p:txBody>
      </p:sp>
      <p:sp>
        <p:nvSpPr>
          <p:cNvPr id="13" name="TextBox 13"/>
          <p:cNvSpPr txBox="1"/>
          <p:nvPr/>
        </p:nvSpPr>
        <p:spPr>
          <a:xfrm>
            <a:off x="3048000" y="3390901"/>
            <a:ext cx="5904745" cy="4801314"/>
          </a:xfrm>
          <a:prstGeom prst="rect">
            <a:avLst/>
          </a:prstGeom>
        </p:spPr>
        <p:txBody>
          <a:bodyPr wrap="square" lIns="0" tIns="0" rIns="0" bIns="0" rtlCol="0" anchor="t">
            <a:spAutoFit/>
          </a:bodyPr>
          <a:lstStyle/>
          <a:p>
            <a:r>
              <a:rPr lang="en-IN" sz="3200" b="1" u="sng" dirty="0">
                <a:solidFill>
                  <a:schemeClr val="bg2"/>
                </a:solidFill>
              </a:rPr>
              <a:t>Azure Load Balancer</a:t>
            </a:r>
          </a:p>
          <a:p>
            <a:endParaRPr lang="en-IN" sz="2800" b="1" dirty="0">
              <a:solidFill>
                <a:schemeClr val="bg2"/>
              </a:solidFill>
            </a:endParaRPr>
          </a:p>
          <a:p>
            <a:r>
              <a:rPr lang="en-IN" sz="2800" dirty="0">
                <a:solidFill>
                  <a:schemeClr val="bg2"/>
                </a:solidFill>
              </a:rPr>
              <a:t>• Network-level (Layer 4) security only</a:t>
            </a:r>
          </a:p>
          <a:p>
            <a:r>
              <a:rPr lang="en-IN" sz="2800" dirty="0">
                <a:solidFill>
                  <a:schemeClr val="bg2"/>
                </a:solidFill>
              </a:rPr>
              <a:t>• No built-in SSL/TLS termination</a:t>
            </a:r>
          </a:p>
          <a:p>
            <a:r>
              <a:rPr lang="en-IN" sz="2800" dirty="0">
                <a:solidFill>
                  <a:schemeClr val="bg2"/>
                </a:solidFill>
              </a:rPr>
              <a:t>• Basic DDoS protection via Azure platform</a:t>
            </a:r>
          </a:p>
          <a:p>
            <a:r>
              <a:rPr lang="en-IN" sz="2800" dirty="0">
                <a:solidFill>
                  <a:schemeClr val="bg2"/>
                </a:solidFill>
              </a:rPr>
              <a:t>• No Web Application Firewall (WAF)</a:t>
            </a:r>
          </a:p>
          <a:p>
            <a:r>
              <a:rPr lang="en-IN" sz="2800" dirty="0">
                <a:solidFill>
                  <a:schemeClr val="bg2"/>
                </a:solidFill>
              </a:rPr>
              <a:t>• Relies on NSGs and Azure Firewall for access control</a:t>
            </a:r>
          </a:p>
          <a:p>
            <a:r>
              <a:rPr lang="en-IN" sz="2800" dirty="0">
                <a:solidFill>
                  <a:schemeClr val="bg2"/>
                </a:solidFill>
              </a:rPr>
              <a:t>• Pass-through traffic — no packet inspection</a:t>
            </a:r>
          </a:p>
        </p:txBody>
      </p:sp>
      <p:sp>
        <p:nvSpPr>
          <p:cNvPr id="17" name="TextBox 17"/>
          <p:cNvSpPr txBox="1"/>
          <p:nvPr/>
        </p:nvSpPr>
        <p:spPr>
          <a:xfrm>
            <a:off x="9714532" y="3268200"/>
            <a:ext cx="5904745" cy="5232202"/>
          </a:xfrm>
          <a:prstGeom prst="rect">
            <a:avLst/>
          </a:prstGeom>
        </p:spPr>
        <p:txBody>
          <a:bodyPr wrap="square" lIns="0" tIns="0" rIns="0" bIns="0" rtlCol="0" anchor="t">
            <a:spAutoFit/>
          </a:bodyPr>
          <a:lstStyle/>
          <a:p>
            <a:r>
              <a:rPr lang="en-IN" sz="3200" b="1" u="sng" dirty="0">
                <a:solidFill>
                  <a:schemeClr val="bg2"/>
                </a:solidFill>
              </a:rPr>
              <a:t>Azure Application Gateway</a:t>
            </a:r>
          </a:p>
          <a:p>
            <a:endParaRPr lang="en-IN" sz="2800" b="1" dirty="0">
              <a:solidFill>
                <a:schemeClr val="bg2"/>
              </a:solidFill>
            </a:endParaRPr>
          </a:p>
          <a:p>
            <a:r>
              <a:rPr lang="en-IN" sz="2800" dirty="0">
                <a:solidFill>
                  <a:schemeClr val="bg2"/>
                </a:solidFill>
              </a:rPr>
              <a:t>• Application-level (Layer 7) security</a:t>
            </a:r>
          </a:p>
          <a:p>
            <a:r>
              <a:rPr lang="en-IN" sz="2800" dirty="0">
                <a:solidFill>
                  <a:schemeClr val="bg2"/>
                </a:solidFill>
              </a:rPr>
              <a:t>• Built-in SSL/TLS termination and re-encryption</a:t>
            </a:r>
          </a:p>
          <a:p>
            <a:r>
              <a:rPr lang="en-IN" sz="2800" dirty="0">
                <a:solidFill>
                  <a:schemeClr val="bg2"/>
                </a:solidFill>
              </a:rPr>
              <a:t>• Optional Web Application Firewall (WAF v2)</a:t>
            </a:r>
          </a:p>
          <a:p>
            <a:r>
              <a:rPr lang="en-IN" sz="2800" dirty="0">
                <a:solidFill>
                  <a:schemeClr val="bg2"/>
                </a:solidFill>
              </a:rPr>
              <a:t>• Protects against OWASP top 10 vulnerabilities</a:t>
            </a:r>
          </a:p>
          <a:p>
            <a:r>
              <a:rPr lang="en-IN" sz="2800" dirty="0">
                <a:solidFill>
                  <a:schemeClr val="bg2"/>
                </a:solidFill>
              </a:rPr>
              <a:t>• End-to-end encryption support</a:t>
            </a:r>
          </a:p>
          <a:p>
            <a:r>
              <a:rPr lang="en-IN" sz="2800" dirty="0">
                <a:solidFill>
                  <a:schemeClr val="bg2"/>
                </a:solidFill>
              </a:rPr>
              <a:t>• Deep packet inspection and request filtering</a:t>
            </a:r>
          </a:p>
        </p:txBody>
      </p:sp>
      <p:grpSp>
        <p:nvGrpSpPr>
          <p:cNvPr id="21" name="Group 21"/>
          <p:cNvGrpSpPr/>
          <p:nvPr/>
        </p:nvGrpSpPr>
        <p:grpSpPr>
          <a:xfrm>
            <a:off x="16259067" y="9197765"/>
            <a:ext cx="121069" cy="12106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23" name="TextBox 23"/>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grpSp>
        <p:nvGrpSpPr>
          <p:cNvPr id="24" name="Group 24"/>
          <p:cNvGrpSpPr/>
          <p:nvPr/>
        </p:nvGrpSpPr>
        <p:grpSpPr>
          <a:xfrm>
            <a:off x="1907864" y="968165"/>
            <a:ext cx="121069" cy="12106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26" name="TextBox 26"/>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cxnSp>
        <p:nvCxnSpPr>
          <p:cNvPr id="33" name="Straight Connector 32">
            <a:extLst>
              <a:ext uri="{FF2B5EF4-FFF2-40B4-BE49-F238E27FC236}">
                <a16:creationId xmlns:a16="http://schemas.microsoft.com/office/drawing/2014/main" id="{264EF2FB-B6BA-349C-3671-2142FBDF2566}"/>
              </a:ext>
            </a:extLst>
          </p:cNvPr>
          <p:cNvCxnSpPr/>
          <p:nvPr/>
        </p:nvCxnSpPr>
        <p:spPr>
          <a:xfrm>
            <a:off x="8952745" y="3268200"/>
            <a:ext cx="0" cy="5170646"/>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8888" b="-88888"/>
            </a:stretch>
          </a:blipFill>
        </p:spPr>
      </p:sp>
      <p:sp>
        <p:nvSpPr>
          <p:cNvPr id="3" name="Freeform 3"/>
          <p:cNvSpPr/>
          <p:nvPr/>
        </p:nvSpPr>
        <p:spPr>
          <a:xfrm flipV="1">
            <a:off x="-325158" y="7079335"/>
            <a:ext cx="18938317" cy="9779058"/>
          </a:xfrm>
          <a:custGeom>
            <a:avLst/>
            <a:gdLst/>
            <a:ahLst/>
            <a:cxnLst/>
            <a:rect l="l" t="t" r="r" b="b"/>
            <a:pathLst>
              <a:path w="18938317" h="9779058">
                <a:moveTo>
                  <a:pt x="0" y="9779058"/>
                </a:moveTo>
                <a:lnTo>
                  <a:pt x="18938316" y="9779058"/>
                </a:lnTo>
                <a:lnTo>
                  <a:pt x="18938316" y="0"/>
                </a:lnTo>
                <a:lnTo>
                  <a:pt x="0" y="0"/>
                </a:lnTo>
                <a:lnTo>
                  <a:pt x="0" y="9779058"/>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325158" y="-6571393"/>
            <a:ext cx="18938317" cy="9779058"/>
          </a:xfrm>
          <a:custGeom>
            <a:avLst/>
            <a:gdLst/>
            <a:ahLst/>
            <a:cxnLst/>
            <a:rect l="l" t="t" r="r" b="b"/>
            <a:pathLst>
              <a:path w="18938317" h="9779058">
                <a:moveTo>
                  <a:pt x="0" y="0"/>
                </a:moveTo>
                <a:lnTo>
                  <a:pt x="18938316" y="0"/>
                </a:lnTo>
                <a:lnTo>
                  <a:pt x="18938316" y="9779058"/>
                </a:lnTo>
                <a:lnTo>
                  <a:pt x="0" y="977905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6540620" y="2675354"/>
            <a:ext cx="1207047" cy="7200900"/>
          </a:xfrm>
          <a:custGeom>
            <a:avLst/>
            <a:gdLst/>
            <a:ahLst/>
            <a:cxnLst/>
            <a:rect l="l" t="t" r="r" b="b"/>
            <a:pathLst>
              <a:path w="1207047" h="7200900">
                <a:moveTo>
                  <a:pt x="0" y="0"/>
                </a:moveTo>
                <a:lnTo>
                  <a:pt x="1207048" y="0"/>
                </a:lnTo>
                <a:lnTo>
                  <a:pt x="1207048" y="7200900"/>
                </a:lnTo>
                <a:lnTo>
                  <a:pt x="0" y="72009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40332" y="410746"/>
            <a:ext cx="1207047" cy="7200900"/>
          </a:xfrm>
          <a:custGeom>
            <a:avLst/>
            <a:gdLst/>
            <a:ahLst/>
            <a:cxnLst/>
            <a:rect l="l" t="t" r="r" b="b"/>
            <a:pathLst>
              <a:path w="1207047" h="7200900">
                <a:moveTo>
                  <a:pt x="1207048" y="7200900"/>
                </a:moveTo>
                <a:lnTo>
                  <a:pt x="0" y="7200900"/>
                </a:lnTo>
                <a:lnTo>
                  <a:pt x="0" y="0"/>
                </a:lnTo>
                <a:lnTo>
                  <a:pt x="1207048" y="0"/>
                </a:lnTo>
                <a:lnTo>
                  <a:pt x="1207048" y="72009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540332" y="8946022"/>
            <a:ext cx="7315200" cy="624556"/>
          </a:xfrm>
          <a:custGeom>
            <a:avLst/>
            <a:gdLst/>
            <a:ahLst/>
            <a:cxnLst/>
            <a:rect l="l" t="t" r="r" b="b"/>
            <a:pathLst>
              <a:path w="7315200" h="624556">
                <a:moveTo>
                  <a:pt x="0" y="0"/>
                </a:moveTo>
                <a:lnTo>
                  <a:pt x="7315200" y="0"/>
                </a:lnTo>
                <a:lnTo>
                  <a:pt x="7315200" y="624556"/>
                </a:lnTo>
                <a:lnTo>
                  <a:pt x="0" y="62455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flipH="1">
            <a:off x="10432468" y="716422"/>
            <a:ext cx="7315200" cy="624556"/>
          </a:xfrm>
          <a:custGeom>
            <a:avLst/>
            <a:gdLst/>
            <a:ahLst/>
            <a:cxnLst/>
            <a:rect l="l" t="t" r="r" b="b"/>
            <a:pathLst>
              <a:path w="7315200" h="624556">
                <a:moveTo>
                  <a:pt x="7315200" y="0"/>
                </a:moveTo>
                <a:lnTo>
                  <a:pt x="0" y="0"/>
                </a:lnTo>
                <a:lnTo>
                  <a:pt x="0" y="624556"/>
                </a:lnTo>
                <a:lnTo>
                  <a:pt x="7315200" y="624556"/>
                </a:lnTo>
                <a:lnTo>
                  <a:pt x="731520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AutoShape 9"/>
          <p:cNvSpPr/>
          <p:nvPr/>
        </p:nvSpPr>
        <p:spPr>
          <a:xfrm flipV="1">
            <a:off x="1968398" y="1028700"/>
            <a:ext cx="9412889" cy="0"/>
          </a:xfrm>
          <a:prstGeom prst="line">
            <a:avLst/>
          </a:prstGeom>
          <a:ln w="19050" cap="flat">
            <a:solidFill>
              <a:srgbClr val="86EDFF"/>
            </a:solidFill>
            <a:prstDash val="solid"/>
            <a:headEnd type="none" w="sm" len="sm"/>
            <a:tailEnd type="none" w="sm" len="sm"/>
          </a:ln>
        </p:spPr>
      </p:sp>
      <p:sp>
        <p:nvSpPr>
          <p:cNvPr id="10" name="AutoShape 10"/>
          <p:cNvSpPr/>
          <p:nvPr/>
        </p:nvSpPr>
        <p:spPr>
          <a:xfrm>
            <a:off x="6906713" y="9258300"/>
            <a:ext cx="9412889" cy="0"/>
          </a:xfrm>
          <a:prstGeom prst="line">
            <a:avLst/>
          </a:prstGeom>
          <a:ln w="19050" cap="flat">
            <a:solidFill>
              <a:srgbClr val="86EDFF"/>
            </a:solidFill>
            <a:prstDash val="solid"/>
            <a:headEnd type="none" w="sm" len="sm"/>
            <a:tailEnd type="none" w="sm" len="sm"/>
          </a:ln>
        </p:spPr>
      </p:sp>
      <p:sp>
        <p:nvSpPr>
          <p:cNvPr id="11" name="TextBox 11"/>
          <p:cNvSpPr txBox="1"/>
          <p:nvPr/>
        </p:nvSpPr>
        <p:spPr>
          <a:xfrm>
            <a:off x="1907863" y="1711757"/>
            <a:ext cx="15084737" cy="1020344"/>
          </a:xfrm>
          <a:prstGeom prst="rect">
            <a:avLst/>
          </a:prstGeom>
        </p:spPr>
        <p:txBody>
          <a:bodyPr wrap="square" lIns="0" tIns="0" rIns="0" bIns="0" rtlCol="0" anchor="t">
            <a:spAutoFit/>
          </a:bodyPr>
          <a:lstStyle/>
          <a:p>
            <a:pPr marL="0" lvl="0" indent="0" algn="ctr">
              <a:lnSpc>
                <a:spcPts val="7772"/>
              </a:lnSpc>
              <a:spcBef>
                <a:spcPct val="0"/>
              </a:spcBef>
            </a:pPr>
            <a:r>
              <a:rPr lang="en-US" sz="8000" b="1" spc="194" dirty="0">
                <a:solidFill>
                  <a:srgbClr val="FFFFFF"/>
                </a:solidFill>
                <a:latin typeface="Assistant Bold"/>
                <a:ea typeface="Assistant Bold"/>
                <a:cs typeface="Assistant Bold"/>
                <a:sym typeface="Assistant Bold"/>
              </a:rPr>
              <a:t>PERFORMANCE COMPARISON</a:t>
            </a:r>
          </a:p>
        </p:txBody>
      </p:sp>
      <p:sp>
        <p:nvSpPr>
          <p:cNvPr id="15" name="TextBox 15"/>
          <p:cNvSpPr txBox="1"/>
          <p:nvPr/>
        </p:nvSpPr>
        <p:spPr>
          <a:xfrm>
            <a:off x="3875804" y="3276864"/>
            <a:ext cx="12443797" cy="2154436"/>
          </a:xfrm>
          <a:prstGeom prst="rect">
            <a:avLst/>
          </a:prstGeom>
        </p:spPr>
        <p:txBody>
          <a:bodyPr wrap="square" lIns="0" tIns="0" rIns="0" bIns="0" rtlCol="0" anchor="t">
            <a:spAutoFit/>
          </a:bodyPr>
          <a:lstStyle/>
          <a:p>
            <a:r>
              <a:rPr lang="en-US" sz="2800" b="1" dirty="0">
                <a:solidFill>
                  <a:schemeClr val="bg2"/>
                </a:solidFill>
              </a:rPr>
              <a:t>Azure Load Balancer </a:t>
            </a:r>
            <a:r>
              <a:rPr lang="en-US" sz="2800" dirty="0">
                <a:solidFill>
                  <a:schemeClr val="bg2"/>
                </a:solidFill>
              </a:rPr>
              <a:t>is a Layer 4 service that distributes TCP/UDP traffic across multiple backend </a:t>
            </a:r>
            <a:r>
              <a:rPr lang="en-US" sz="2800" dirty="0" err="1">
                <a:solidFill>
                  <a:schemeClr val="bg2"/>
                </a:solidFill>
              </a:rPr>
              <a:t>VMs.It</a:t>
            </a:r>
            <a:r>
              <a:rPr lang="en-US" sz="2800" dirty="0">
                <a:solidFill>
                  <a:schemeClr val="bg2"/>
                </a:solidFill>
              </a:rPr>
              <a:t> provides high throughput and very low latency, making it suitable for applications handling huge amounts of </a:t>
            </a:r>
            <a:r>
              <a:rPr lang="en-US" sz="2800" dirty="0" err="1">
                <a:solidFill>
                  <a:schemeClr val="bg2"/>
                </a:solidFill>
              </a:rPr>
              <a:t>traffic.It</a:t>
            </a:r>
            <a:r>
              <a:rPr lang="en-US" sz="2800" dirty="0">
                <a:solidFill>
                  <a:schemeClr val="bg2"/>
                </a:solidFill>
              </a:rPr>
              <a:t> requires minimal processing because it doesn't inspect the actual packet </a:t>
            </a:r>
            <a:r>
              <a:rPr lang="en-US" sz="2800" dirty="0" err="1">
                <a:solidFill>
                  <a:schemeClr val="bg2"/>
                </a:solidFill>
              </a:rPr>
              <a:t>content.It</a:t>
            </a:r>
            <a:r>
              <a:rPr lang="en-US" sz="2800" dirty="0">
                <a:solidFill>
                  <a:schemeClr val="bg2"/>
                </a:solidFill>
              </a:rPr>
              <a:t> can scale automatically to handle millions of network flows efficiently.</a:t>
            </a:r>
            <a:endParaRPr lang="en-IN" sz="2800" dirty="0">
              <a:solidFill>
                <a:schemeClr val="bg2"/>
              </a:solidFill>
            </a:endParaRPr>
          </a:p>
        </p:txBody>
      </p:sp>
      <p:sp>
        <p:nvSpPr>
          <p:cNvPr id="19" name="TextBox 19"/>
          <p:cNvSpPr txBox="1"/>
          <p:nvPr/>
        </p:nvSpPr>
        <p:spPr>
          <a:xfrm>
            <a:off x="3868093" y="5712641"/>
            <a:ext cx="11935288" cy="2954655"/>
          </a:xfrm>
          <a:prstGeom prst="rect">
            <a:avLst/>
          </a:prstGeom>
        </p:spPr>
        <p:txBody>
          <a:bodyPr wrap="square" lIns="0" tIns="0" rIns="0" bIns="0" rtlCol="0" anchor="t">
            <a:spAutoFit/>
          </a:bodyPr>
          <a:lstStyle/>
          <a:p>
            <a:r>
              <a:rPr lang="en-US" sz="2400" dirty="0">
                <a:solidFill>
                  <a:schemeClr val="bg2"/>
                </a:solidFill>
              </a:rPr>
              <a:t>Azure Application Gateway is a Layer 7 load-balancing service that intelligently routes HTTP/HTTPS requests.</a:t>
            </a:r>
          </a:p>
          <a:p>
            <a:r>
              <a:rPr lang="en-US" sz="2400" dirty="0">
                <a:solidFill>
                  <a:schemeClr val="bg2"/>
                </a:solidFill>
              </a:rPr>
              <a:t>It supports features like URL-based routing, SSL/TLS termination, session affinity, and WAF security.</a:t>
            </a:r>
          </a:p>
          <a:p>
            <a:r>
              <a:rPr lang="en-US" sz="2400" dirty="0">
                <a:solidFill>
                  <a:schemeClr val="bg2"/>
                </a:solidFill>
              </a:rPr>
              <a:t>It provides more flexibility and security by inspecting application-level requests.</a:t>
            </a:r>
          </a:p>
          <a:p>
            <a:r>
              <a:rPr lang="en-US" sz="2400" dirty="0">
                <a:solidFill>
                  <a:schemeClr val="bg2"/>
                </a:solidFill>
              </a:rPr>
              <a:t>Compared with Layer 4, it may have slightly higher latency due to deeper request processing.</a:t>
            </a:r>
          </a:p>
          <a:p>
            <a:r>
              <a:rPr lang="en-US" sz="2400" dirty="0">
                <a:solidFill>
                  <a:schemeClr val="bg2"/>
                </a:solidFill>
              </a:rPr>
              <a:t>It is especially useful for web applications that require intelligent traffic management.</a:t>
            </a:r>
          </a:p>
          <a:p>
            <a:r>
              <a:rPr lang="en-US" sz="2400" dirty="0">
                <a:solidFill>
                  <a:schemeClr val="bg2"/>
                </a:solidFill>
              </a:rPr>
              <a:t>It can route requests based on URLs, headers, and other application-level information.</a:t>
            </a:r>
            <a:endParaRPr lang="en-IN" sz="2400" dirty="0"/>
          </a:p>
        </p:txBody>
      </p:sp>
      <p:grpSp>
        <p:nvGrpSpPr>
          <p:cNvPr id="21" name="Group 21"/>
          <p:cNvGrpSpPr/>
          <p:nvPr/>
        </p:nvGrpSpPr>
        <p:grpSpPr>
          <a:xfrm>
            <a:off x="16259067" y="9197765"/>
            <a:ext cx="121069" cy="12106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23" name="TextBox 23"/>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grpSp>
        <p:nvGrpSpPr>
          <p:cNvPr id="24" name="Group 24"/>
          <p:cNvGrpSpPr/>
          <p:nvPr/>
        </p:nvGrpSpPr>
        <p:grpSpPr>
          <a:xfrm>
            <a:off x="1907864" y="968165"/>
            <a:ext cx="121069" cy="12106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26" name="TextBox 26"/>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8888" b="-88888"/>
            </a:stretch>
          </a:blipFill>
        </p:spPr>
      </p:sp>
      <p:sp>
        <p:nvSpPr>
          <p:cNvPr id="3" name="Freeform 3"/>
          <p:cNvSpPr/>
          <p:nvPr/>
        </p:nvSpPr>
        <p:spPr>
          <a:xfrm flipV="1">
            <a:off x="-325158" y="7079335"/>
            <a:ext cx="18938317" cy="9779058"/>
          </a:xfrm>
          <a:custGeom>
            <a:avLst/>
            <a:gdLst/>
            <a:ahLst/>
            <a:cxnLst/>
            <a:rect l="l" t="t" r="r" b="b"/>
            <a:pathLst>
              <a:path w="18938317" h="9779058">
                <a:moveTo>
                  <a:pt x="0" y="9779058"/>
                </a:moveTo>
                <a:lnTo>
                  <a:pt x="18938316" y="9779058"/>
                </a:lnTo>
                <a:lnTo>
                  <a:pt x="18938316" y="0"/>
                </a:lnTo>
                <a:lnTo>
                  <a:pt x="0" y="0"/>
                </a:lnTo>
                <a:lnTo>
                  <a:pt x="0" y="9779058"/>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325158" y="-6571393"/>
            <a:ext cx="18938317" cy="9779058"/>
          </a:xfrm>
          <a:custGeom>
            <a:avLst/>
            <a:gdLst/>
            <a:ahLst/>
            <a:cxnLst/>
            <a:rect l="l" t="t" r="r" b="b"/>
            <a:pathLst>
              <a:path w="18938317" h="9779058">
                <a:moveTo>
                  <a:pt x="0" y="0"/>
                </a:moveTo>
                <a:lnTo>
                  <a:pt x="18938316" y="0"/>
                </a:lnTo>
                <a:lnTo>
                  <a:pt x="18938316" y="9779058"/>
                </a:lnTo>
                <a:lnTo>
                  <a:pt x="0" y="977905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6540620" y="2675354"/>
            <a:ext cx="1207047" cy="7200900"/>
          </a:xfrm>
          <a:custGeom>
            <a:avLst/>
            <a:gdLst/>
            <a:ahLst/>
            <a:cxnLst/>
            <a:rect l="l" t="t" r="r" b="b"/>
            <a:pathLst>
              <a:path w="1207047" h="7200900">
                <a:moveTo>
                  <a:pt x="0" y="0"/>
                </a:moveTo>
                <a:lnTo>
                  <a:pt x="1207048" y="0"/>
                </a:lnTo>
                <a:lnTo>
                  <a:pt x="1207048" y="7200900"/>
                </a:lnTo>
                <a:lnTo>
                  <a:pt x="0" y="72009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40332" y="410746"/>
            <a:ext cx="1207047" cy="7200900"/>
          </a:xfrm>
          <a:custGeom>
            <a:avLst/>
            <a:gdLst/>
            <a:ahLst/>
            <a:cxnLst/>
            <a:rect l="l" t="t" r="r" b="b"/>
            <a:pathLst>
              <a:path w="1207047" h="7200900">
                <a:moveTo>
                  <a:pt x="1207048" y="7200900"/>
                </a:moveTo>
                <a:lnTo>
                  <a:pt x="0" y="7200900"/>
                </a:lnTo>
                <a:lnTo>
                  <a:pt x="0" y="0"/>
                </a:lnTo>
                <a:lnTo>
                  <a:pt x="1207048" y="0"/>
                </a:lnTo>
                <a:lnTo>
                  <a:pt x="1207048" y="72009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540332" y="8946022"/>
            <a:ext cx="7315200" cy="624556"/>
          </a:xfrm>
          <a:custGeom>
            <a:avLst/>
            <a:gdLst/>
            <a:ahLst/>
            <a:cxnLst/>
            <a:rect l="l" t="t" r="r" b="b"/>
            <a:pathLst>
              <a:path w="7315200" h="624556">
                <a:moveTo>
                  <a:pt x="0" y="0"/>
                </a:moveTo>
                <a:lnTo>
                  <a:pt x="7315200" y="0"/>
                </a:lnTo>
                <a:lnTo>
                  <a:pt x="7315200" y="624556"/>
                </a:lnTo>
                <a:lnTo>
                  <a:pt x="0" y="62455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flipH="1">
            <a:off x="10432468" y="716422"/>
            <a:ext cx="7315200" cy="624556"/>
          </a:xfrm>
          <a:custGeom>
            <a:avLst/>
            <a:gdLst/>
            <a:ahLst/>
            <a:cxnLst/>
            <a:rect l="l" t="t" r="r" b="b"/>
            <a:pathLst>
              <a:path w="7315200" h="624556">
                <a:moveTo>
                  <a:pt x="7315200" y="0"/>
                </a:moveTo>
                <a:lnTo>
                  <a:pt x="0" y="0"/>
                </a:lnTo>
                <a:lnTo>
                  <a:pt x="0" y="624556"/>
                </a:lnTo>
                <a:lnTo>
                  <a:pt x="7315200" y="624556"/>
                </a:lnTo>
                <a:lnTo>
                  <a:pt x="731520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AutoShape 9"/>
          <p:cNvSpPr/>
          <p:nvPr/>
        </p:nvSpPr>
        <p:spPr>
          <a:xfrm flipV="1">
            <a:off x="1968398" y="1028700"/>
            <a:ext cx="9412889" cy="0"/>
          </a:xfrm>
          <a:prstGeom prst="line">
            <a:avLst/>
          </a:prstGeom>
          <a:ln w="19050" cap="flat">
            <a:solidFill>
              <a:srgbClr val="86EDFF"/>
            </a:solidFill>
            <a:prstDash val="solid"/>
            <a:headEnd type="none" w="sm" len="sm"/>
            <a:tailEnd type="none" w="sm" len="sm"/>
          </a:ln>
        </p:spPr>
      </p:sp>
      <p:sp>
        <p:nvSpPr>
          <p:cNvPr id="10" name="AutoShape 10"/>
          <p:cNvSpPr/>
          <p:nvPr/>
        </p:nvSpPr>
        <p:spPr>
          <a:xfrm>
            <a:off x="6906713" y="9258300"/>
            <a:ext cx="9412889" cy="0"/>
          </a:xfrm>
          <a:prstGeom prst="line">
            <a:avLst/>
          </a:prstGeom>
          <a:ln w="19050" cap="flat">
            <a:solidFill>
              <a:srgbClr val="86EDFF"/>
            </a:solidFill>
            <a:prstDash val="solid"/>
            <a:headEnd type="none" w="sm" len="sm"/>
            <a:tailEnd type="none" w="sm" len="sm"/>
          </a:ln>
        </p:spPr>
      </p:sp>
      <p:sp>
        <p:nvSpPr>
          <p:cNvPr id="11" name="TextBox 11"/>
          <p:cNvSpPr txBox="1"/>
          <p:nvPr/>
        </p:nvSpPr>
        <p:spPr>
          <a:xfrm>
            <a:off x="3406288" y="1726221"/>
            <a:ext cx="12214712" cy="1405065"/>
          </a:xfrm>
          <a:prstGeom prst="rect">
            <a:avLst/>
          </a:prstGeom>
        </p:spPr>
        <p:txBody>
          <a:bodyPr wrap="square" lIns="0" tIns="0" rIns="0" bIns="0" rtlCol="0" anchor="t">
            <a:spAutoFit/>
          </a:bodyPr>
          <a:lstStyle/>
          <a:p>
            <a:pPr marL="0" lvl="0" indent="0" algn="ctr">
              <a:lnSpc>
                <a:spcPts val="11793"/>
              </a:lnSpc>
              <a:spcBef>
                <a:spcPct val="0"/>
              </a:spcBef>
            </a:pPr>
            <a:r>
              <a:rPr lang="en-US" sz="8000" b="1" spc="294" dirty="0">
                <a:solidFill>
                  <a:srgbClr val="FFFFFF"/>
                </a:solidFill>
                <a:latin typeface="Assistant Bold"/>
                <a:ea typeface="Assistant Bold"/>
                <a:cs typeface="Assistant Bold"/>
                <a:sym typeface="Assistant Bold"/>
              </a:rPr>
              <a:t>COST COMPARISON</a:t>
            </a:r>
          </a:p>
        </p:txBody>
      </p:sp>
      <p:sp>
        <p:nvSpPr>
          <p:cNvPr id="15" name="TextBox 15"/>
          <p:cNvSpPr txBox="1"/>
          <p:nvPr/>
        </p:nvSpPr>
        <p:spPr>
          <a:xfrm>
            <a:off x="3901300" y="3692332"/>
            <a:ext cx="11111864" cy="1859483"/>
          </a:xfrm>
          <a:prstGeom prst="rect">
            <a:avLst/>
          </a:prstGeom>
        </p:spPr>
        <p:txBody>
          <a:bodyPr wrap="square" lIns="0" tIns="0" rIns="0" bIns="0" rtlCol="0" anchor="t">
            <a:spAutoFit/>
          </a:bodyPr>
          <a:lstStyle/>
          <a:p>
            <a:pPr marL="0" lvl="0" indent="0" algn="l">
              <a:lnSpc>
                <a:spcPts val="2943"/>
              </a:lnSpc>
              <a:spcBef>
                <a:spcPct val="0"/>
              </a:spcBef>
            </a:pPr>
            <a:r>
              <a:rPr lang="en-US" sz="3200" b="1" spc="24" dirty="0">
                <a:solidFill>
                  <a:srgbClr val="FFFFFF"/>
                </a:solidFill>
                <a:latin typeface="Arimo"/>
                <a:ea typeface="Arimo"/>
                <a:cs typeface="Arimo"/>
                <a:sym typeface="Arimo"/>
              </a:rPr>
              <a:t>Azure Load Balancer </a:t>
            </a:r>
            <a:r>
              <a:rPr lang="en-US" sz="2453" b="1" spc="24" dirty="0">
                <a:solidFill>
                  <a:srgbClr val="FFFFFF"/>
                </a:solidFill>
                <a:latin typeface="Arimo"/>
                <a:ea typeface="Arimo"/>
                <a:cs typeface="Arimo"/>
                <a:sym typeface="Arimo"/>
              </a:rPr>
              <a:t>— </a:t>
            </a:r>
            <a:r>
              <a:rPr lang="en-US" sz="2453" spc="24" dirty="0">
                <a:solidFill>
                  <a:srgbClr val="FFFFFF"/>
                </a:solidFill>
                <a:latin typeface="Arimo"/>
                <a:ea typeface="Arimo"/>
                <a:cs typeface="Arimo"/>
                <a:sym typeface="Arimo"/>
              </a:rPr>
              <a:t>Predictable Tier-Based Pricing: Available in Basic (free) and Standard tiers. Standard Load Balancer is billed by the number of rules and data processed (GB). Costs are predictable and scale linearly with usage, making it cost-efficient for high-throughput Layer 4 TCP/UDP workloads with minimal overhead.</a:t>
            </a:r>
          </a:p>
        </p:txBody>
      </p:sp>
      <p:sp>
        <p:nvSpPr>
          <p:cNvPr id="19" name="TextBox 19"/>
          <p:cNvSpPr txBox="1"/>
          <p:nvPr/>
        </p:nvSpPr>
        <p:spPr>
          <a:xfrm>
            <a:off x="3914312" y="6257747"/>
            <a:ext cx="11098852" cy="2231380"/>
          </a:xfrm>
          <a:prstGeom prst="rect">
            <a:avLst/>
          </a:prstGeom>
        </p:spPr>
        <p:txBody>
          <a:bodyPr lIns="0" tIns="0" rIns="0" bIns="0" rtlCol="0" anchor="t">
            <a:spAutoFit/>
          </a:bodyPr>
          <a:lstStyle/>
          <a:p>
            <a:pPr marL="0" lvl="0" indent="0" algn="l">
              <a:lnSpc>
                <a:spcPts val="2943"/>
              </a:lnSpc>
              <a:spcBef>
                <a:spcPct val="0"/>
              </a:spcBef>
            </a:pPr>
            <a:r>
              <a:rPr lang="en-US" sz="3200" b="1" spc="24" dirty="0">
                <a:solidFill>
                  <a:srgbClr val="FFFFFF"/>
                </a:solidFill>
                <a:latin typeface="Arimo"/>
                <a:ea typeface="Arimo"/>
                <a:cs typeface="Arimo"/>
                <a:sym typeface="Arimo"/>
              </a:rPr>
              <a:t>Azure Application Gateway </a:t>
            </a:r>
            <a:r>
              <a:rPr lang="en-US" sz="2453" b="1" spc="24" dirty="0">
                <a:solidFill>
                  <a:srgbClr val="FFFFFF"/>
                </a:solidFill>
                <a:latin typeface="Arimo"/>
                <a:ea typeface="Arimo"/>
                <a:cs typeface="Arimo"/>
                <a:sym typeface="Arimo"/>
              </a:rPr>
              <a:t>— </a:t>
            </a:r>
            <a:r>
              <a:rPr lang="en-US" sz="2453" spc="24" dirty="0">
                <a:solidFill>
                  <a:srgbClr val="FFFFFF"/>
                </a:solidFill>
                <a:latin typeface="Arimo"/>
                <a:ea typeface="Arimo"/>
                <a:cs typeface="Arimo"/>
                <a:sym typeface="Arimo"/>
              </a:rPr>
              <a:t>Consumption-Based Pricing: Billed on a fixed hourly rate plus capacity units (CUs) consumed. CUs account for compute, persistent connections, and throughput. WAF tier adds additional cost. Best suited for Layer 7 HTTP/HTTPS routing where advanced features such as SSL termination, URL-based routing, and WAF justify the higher per-unit expense.</a:t>
            </a:r>
          </a:p>
        </p:txBody>
      </p:sp>
      <p:grpSp>
        <p:nvGrpSpPr>
          <p:cNvPr id="21" name="Group 21"/>
          <p:cNvGrpSpPr/>
          <p:nvPr/>
        </p:nvGrpSpPr>
        <p:grpSpPr>
          <a:xfrm>
            <a:off x="16259067" y="9197765"/>
            <a:ext cx="121069" cy="12106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23" name="TextBox 23"/>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grpSp>
        <p:nvGrpSpPr>
          <p:cNvPr id="24" name="Group 24"/>
          <p:cNvGrpSpPr/>
          <p:nvPr/>
        </p:nvGrpSpPr>
        <p:grpSpPr>
          <a:xfrm>
            <a:off x="1907864" y="968165"/>
            <a:ext cx="121069" cy="12106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26" name="TextBox 26"/>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grpSp>
        <p:nvGrpSpPr>
          <p:cNvPr id="27" name="Group 27"/>
          <p:cNvGrpSpPr/>
          <p:nvPr/>
        </p:nvGrpSpPr>
        <p:grpSpPr>
          <a:xfrm>
            <a:off x="3354976" y="4094485"/>
            <a:ext cx="244045" cy="244045"/>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1558"/>
            </a:solidFill>
          </p:spPr>
        </p:sp>
        <p:sp>
          <p:nvSpPr>
            <p:cNvPr id="29" name="TextBox 29"/>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grpSp>
        <p:nvGrpSpPr>
          <p:cNvPr id="30" name="Group 30"/>
          <p:cNvGrpSpPr/>
          <p:nvPr/>
        </p:nvGrpSpPr>
        <p:grpSpPr>
          <a:xfrm>
            <a:off x="3358187" y="6350623"/>
            <a:ext cx="244045" cy="244045"/>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1558"/>
            </a:solidFill>
          </p:spPr>
        </p:sp>
        <p:sp>
          <p:nvSpPr>
            <p:cNvPr id="32" name="TextBox 32"/>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8888" b="-88888"/>
            </a:stretch>
          </a:blipFill>
        </p:spPr>
      </p:sp>
      <p:sp>
        <p:nvSpPr>
          <p:cNvPr id="3" name="Freeform 3"/>
          <p:cNvSpPr/>
          <p:nvPr/>
        </p:nvSpPr>
        <p:spPr>
          <a:xfrm flipV="1">
            <a:off x="-325158" y="7079335"/>
            <a:ext cx="18938317" cy="9779058"/>
          </a:xfrm>
          <a:custGeom>
            <a:avLst/>
            <a:gdLst/>
            <a:ahLst/>
            <a:cxnLst/>
            <a:rect l="l" t="t" r="r" b="b"/>
            <a:pathLst>
              <a:path w="18938317" h="9779058">
                <a:moveTo>
                  <a:pt x="0" y="9779058"/>
                </a:moveTo>
                <a:lnTo>
                  <a:pt x="18938316" y="9779058"/>
                </a:lnTo>
                <a:lnTo>
                  <a:pt x="18938316" y="0"/>
                </a:lnTo>
                <a:lnTo>
                  <a:pt x="0" y="0"/>
                </a:lnTo>
                <a:lnTo>
                  <a:pt x="0" y="9779058"/>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325158" y="-6571393"/>
            <a:ext cx="18938317" cy="9779058"/>
          </a:xfrm>
          <a:custGeom>
            <a:avLst/>
            <a:gdLst/>
            <a:ahLst/>
            <a:cxnLst/>
            <a:rect l="l" t="t" r="r" b="b"/>
            <a:pathLst>
              <a:path w="18938317" h="9779058">
                <a:moveTo>
                  <a:pt x="0" y="0"/>
                </a:moveTo>
                <a:lnTo>
                  <a:pt x="18938316" y="0"/>
                </a:lnTo>
                <a:lnTo>
                  <a:pt x="18938316" y="9779058"/>
                </a:lnTo>
                <a:lnTo>
                  <a:pt x="0" y="977905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6540620" y="2675354"/>
            <a:ext cx="1207047" cy="7200900"/>
          </a:xfrm>
          <a:custGeom>
            <a:avLst/>
            <a:gdLst/>
            <a:ahLst/>
            <a:cxnLst/>
            <a:rect l="l" t="t" r="r" b="b"/>
            <a:pathLst>
              <a:path w="1207047" h="7200900">
                <a:moveTo>
                  <a:pt x="0" y="0"/>
                </a:moveTo>
                <a:lnTo>
                  <a:pt x="1207048" y="0"/>
                </a:lnTo>
                <a:lnTo>
                  <a:pt x="1207048" y="7200900"/>
                </a:lnTo>
                <a:lnTo>
                  <a:pt x="0" y="72009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40332" y="410746"/>
            <a:ext cx="1207047" cy="7200900"/>
          </a:xfrm>
          <a:custGeom>
            <a:avLst/>
            <a:gdLst/>
            <a:ahLst/>
            <a:cxnLst/>
            <a:rect l="l" t="t" r="r" b="b"/>
            <a:pathLst>
              <a:path w="1207047" h="7200900">
                <a:moveTo>
                  <a:pt x="1207048" y="7200900"/>
                </a:moveTo>
                <a:lnTo>
                  <a:pt x="0" y="7200900"/>
                </a:lnTo>
                <a:lnTo>
                  <a:pt x="0" y="0"/>
                </a:lnTo>
                <a:lnTo>
                  <a:pt x="1207048" y="0"/>
                </a:lnTo>
                <a:lnTo>
                  <a:pt x="1207048" y="72009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540332" y="8946022"/>
            <a:ext cx="7315200" cy="624556"/>
          </a:xfrm>
          <a:custGeom>
            <a:avLst/>
            <a:gdLst/>
            <a:ahLst/>
            <a:cxnLst/>
            <a:rect l="l" t="t" r="r" b="b"/>
            <a:pathLst>
              <a:path w="7315200" h="624556">
                <a:moveTo>
                  <a:pt x="0" y="0"/>
                </a:moveTo>
                <a:lnTo>
                  <a:pt x="7315200" y="0"/>
                </a:lnTo>
                <a:lnTo>
                  <a:pt x="7315200" y="624556"/>
                </a:lnTo>
                <a:lnTo>
                  <a:pt x="0" y="62455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flipH="1">
            <a:off x="10432468" y="716422"/>
            <a:ext cx="7315200" cy="624556"/>
          </a:xfrm>
          <a:custGeom>
            <a:avLst/>
            <a:gdLst/>
            <a:ahLst/>
            <a:cxnLst/>
            <a:rect l="l" t="t" r="r" b="b"/>
            <a:pathLst>
              <a:path w="7315200" h="624556">
                <a:moveTo>
                  <a:pt x="7315200" y="0"/>
                </a:moveTo>
                <a:lnTo>
                  <a:pt x="0" y="0"/>
                </a:lnTo>
                <a:lnTo>
                  <a:pt x="0" y="624556"/>
                </a:lnTo>
                <a:lnTo>
                  <a:pt x="7315200" y="624556"/>
                </a:lnTo>
                <a:lnTo>
                  <a:pt x="731520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AutoShape 9"/>
          <p:cNvSpPr/>
          <p:nvPr/>
        </p:nvSpPr>
        <p:spPr>
          <a:xfrm flipV="1">
            <a:off x="1968398" y="1028700"/>
            <a:ext cx="9412889" cy="0"/>
          </a:xfrm>
          <a:prstGeom prst="line">
            <a:avLst/>
          </a:prstGeom>
          <a:ln w="19050" cap="flat">
            <a:solidFill>
              <a:srgbClr val="86EDFF"/>
            </a:solidFill>
            <a:prstDash val="solid"/>
            <a:headEnd type="none" w="sm" len="sm"/>
            <a:tailEnd type="none" w="sm" len="sm"/>
          </a:ln>
        </p:spPr>
      </p:sp>
      <p:sp>
        <p:nvSpPr>
          <p:cNvPr id="10" name="AutoShape 10"/>
          <p:cNvSpPr/>
          <p:nvPr/>
        </p:nvSpPr>
        <p:spPr>
          <a:xfrm>
            <a:off x="6906713" y="9258300"/>
            <a:ext cx="9412889" cy="0"/>
          </a:xfrm>
          <a:prstGeom prst="line">
            <a:avLst/>
          </a:prstGeom>
          <a:ln w="19050" cap="flat">
            <a:solidFill>
              <a:srgbClr val="86EDFF"/>
            </a:solidFill>
            <a:prstDash val="solid"/>
            <a:headEnd type="none" w="sm" len="sm"/>
            <a:tailEnd type="none" w="sm" len="sm"/>
          </a:ln>
        </p:spPr>
      </p:sp>
      <p:sp>
        <p:nvSpPr>
          <p:cNvPr id="12" name="TextBox 12"/>
          <p:cNvSpPr txBox="1"/>
          <p:nvPr/>
        </p:nvSpPr>
        <p:spPr>
          <a:xfrm>
            <a:off x="3079469" y="1360741"/>
            <a:ext cx="11089959" cy="1482009"/>
          </a:xfrm>
          <a:prstGeom prst="rect">
            <a:avLst/>
          </a:prstGeom>
        </p:spPr>
        <p:txBody>
          <a:bodyPr lIns="0" tIns="0" rIns="0" bIns="0" rtlCol="0" anchor="t">
            <a:spAutoFit/>
          </a:bodyPr>
          <a:lstStyle/>
          <a:p>
            <a:pPr marL="0" lvl="0" indent="0" algn="ctr">
              <a:lnSpc>
                <a:spcPts val="12584"/>
              </a:lnSpc>
              <a:spcBef>
                <a:spcPct val="0"/>
              </a:spcBef>
            </a:pPr>
            <a:r>
              <a:rPr lang="en-US" sz="8000" b="1" spc="314" dirty="0">
                <a:solidFill>
                  <a:srgbClr val="FFFFFF"/>
                </a:solidFill>
                <a:latin typeface="Assistant Bold"/>
                <a:ea typeface="Assistant Bold"/>
                <a:cs typeface="Assistant Bold"/>
                <a:sym typeface="Assistant Bold"/>
              </a:rPr>
              <a:t>USE CASES</a:t>
            </a:r>
          </a:p>
        </p:txBody>
      </p:sp>
      <p:sp>
        <p:nvSpPr>
          <p:cNvPr id="13" name="TextBox 13"/>
          <p:cNvSpPr txBox="1"/>
          <p:nvPr/>
        </p:nvSpPr>
        <p:spPr>
          <a:xfrm>
            <a:off x="2707229" y="3390901"/>
            <a:ext cx="6204130" cy="4501232"/>
          </a:xfrm>
          <a:prstGeom prst="rect">
            <a:avLst/>
          </a:prstGeom>
        </p:spPr>
        <p:txBody>
          <a:bodyPr wrap="square" lIns="0" tIns="0" rIns="0" bIns="0" rtlCol="0" anchor="t">
            <a:spAutoFit/>
          </a:bodyPr>
          <a:lstStyle/>
          <a:p>
            <a:pPr marL="0" lvl="0" indent="0" algn="l">
              <a:lnSpc>
                <a:spcPts val="2709"/>
              </a:lnSpc>
              <a:spcBef>
                <a:spcPct val="0"/>
              </a:spcBef>
            </a:pPr>
            <a:r>
              <a:rPr lang="en-US" sz="3200" b="1" spc="22" dirty="0">
                <a:solidFill>
                  <a:srgbClr val="FFFFFF"/>
                </a:solidFill>
                <a:latin typeface="Arimo"/>
                <a:ea typeface="Arimo"/>
                <a:cs typeface="Arimo"/>
                <a:sym typeface="Arimo"/>
              </a:rPr>
              <a:t>Choose Azure Load Balancer when:</a:t>
            </a:r>
          </a:p>
          <a:p>
            <a:pPr marL="0" lvl="0" indent="0" algn="l">
              <a:lnSpc>
                <a:spcPts val="2709"/>
              </a:lnSpc>
              <a:spcBef>
                <a:spcPct val="0"/>
              </a:spcBef>
            </a:pPr>
            <a:endParaRPr lang="en-US" sz="3200" spc="22" dirty="0">
              <a:solidFill>
                <a:srgbClr val="FFFFFF"/>
              </a:solidFill>
              <a:latin typeface="Arimo"/>
              <a:ea typeface="Arimo"/>
              <a:cs typeface="Arimo"/>
              <a:sym typeface="Arimo"/>
            </a:endParaRPr>
          </a:p>
          <a:p>
            <a:pPr marL="0" lvl="0" indent="0" algn="l">
              <a:lnSpc>
                <a:spcPts val="2709"/>
              </a:lnSpc>
              <a:spcBef>
                <a:spcPct val="0"/>
              </a:spcBef>
            </a:pPr>
            <a:r>
              <a:rPr lang="en-US" sz="2400" spc="22" dirty="0">
                <a:solidFill>
                  <a:srgbClr val="FFFFFF"/>
                </a:solidFill>
                <a:latin typeface="Arimo"/>
                <a:ea typeface="Arimo"/>
                <a:cs typeface="Arimo"/>
                <a:sym typeface="Arimo"/>
              </a:rPr>
              <a:t>● High-throughput TCP/UDP traffic at Layer 4 is required</a:t>
            </a:r>
          </a:p>
          <a:p>
            <a:pPr marL="0" lvl="0" indent="0" algn="l">
              <a:lnSpc>
                <a:spcPts val="2709"/>
              </a:lnSpc>
              <a:spcBef>
                <a:spcPct val="0"/>
              </a:spcBef>
            </a:pPr>
            <a:r>
              <a:rPr lang="en-US" sz="2400" spc="22" dirty="0">
                <a:solidFill>
                  <a:srgbClr val="FFFFFF"/>
                </a:solidFill>
                <a:latin typeface="Arimo"/>
                <a:ea typeface="Arimo"/>
                <a:cs typeface="Arimo"/>
                <a:sym typeface="Arimo"/>
              </a:rPr>
              <a:t>● Low-latency, non-HTTP workloads (e.g., gaming, streaming)</a:t>
            </a:r>
          </a:p>
          <a:p>
            <a:pPr marL="0" lvl="0" indent="0" algn="l">
              <a:lnSpc>
                <a:spcPts val="2709"/>
              </a:lnSpc>
              <a:spcBef>
                <a:spcPct val="0"/>
              </a:spcBef>
            </a:pPr>
            <a:r>
              <a:rPr lang="en-US" sz="2400" spc="22" dirty="0">
                <a:solidFill>
                  <a:srgbClr val="FFFFFF"/>
                </a:solidFill>
                <a:latin typeface="Arimo"/>
                <a:ea typeface="Arimo"/>
                <a:cs typeface="Arimo"/>
                <a:sym typeface="Arimo"/>
              </a:rPr>
              <a:t>● Internal VM-to-VM load distribution is needed</a:t>
            </a:r>
          </a:p>
          <a:p>
            <a:pPr marL="0" lvl="0" indent="0" algn="l">
              <a:lnSpc>
                <a:spcPts val="2709"/>
              </a:lnSpc>
              <a:spcBef>
                <a:spcPct val="0"/>
              </a:spcBef>
            </a:pPr>
            <a:r>
              <a:rPr lang="en-US" sz="2400" spc="22" dirty="0">
                <a:solidFill>
                  <a:srgbClr val="FFFFFF"/>
                </a:solidFill>
                <a:latin typeface="Arimo"/>
                <a:ea typeface="Arimo"/>
                <a:cs typeface="Arimo"/>
                <a:sym typeface="Arimo"/>
              </a:rPr>
              <a:t>● Simple, cost-effective balancing without HTTP inspection</a:t>
            </a:r>
          </a:p>
          <a:p>
            <a:pPr marL="0" lvl="0" indent="0" algn="l">
              <a:lnSpc>
                <a:spcPts val="2709"/>
              </a:lnSpc>
              <a:spcBef>
                <a:spcPct val="0"/>
              </a:spcBef>
            </a:pPr>
            <a:r>
              <a:rPr lang="en-US" sz="2400" spc="22" dirty="0">
                <a:solidFill>
                  <a:srgbClr val="FFFFFF"/>
                </a:solidFill>
                <a:latin typeface="Arimo"/>
                <a:ea typeface="Arimo"/>
                <a:cs typeface="Arimo"/>
                <a:sym typeface="Arimo"/>
              </a:rPr>
              <a:t>● Infrastructure-level redundancy across availability zones</a:t>
            </a:r>
          </a:p>
        </p:txBody>
      </p:sp>
      <p:sp>
        <p:nvSpPr>
          <p:cNvPr id="17" name="TextBox 17"/>
          <p:cNvSpPr txBox="1"/>
          <p:nvPr/>
        </p:nvSpPr>
        <p:spPr>
          <a:xfrm>
            <a:off x="9871209" y="3390901"/>
            <a:ext cx="5709561" cy="4501232"/>
          </a:xfrm>
          <a:prstGeom prst="rect">
            <a:avLst/>
          </a:prstGeom>
        </p:spPr>
        <p:txBody>
          <a:bodyPr wrap="square" lIns="0" tIns="0" rIns="0" bIns="0" rtlCol="0" anchor="t">
            <a:spAutoFit/>
          </a:bodyPr>
          <a:lstStyle/>
          <a:p>
            <a:pPr marL="0" lvl="0" indent="0" algn="l">
              <a:lnSpc>
                <a:spcPts val="2709"/>
              </a:lnSpc>
              <a:spcBef>
                <a:spcPct val="0"/>
              </a:spcBef>
            </a:pPr>
            <a:r>
              <a:rPr lang="en-US" sz="3200" b="1" spc="22" dirty="0">
                <a:solidFill>
                  <a:srgbClr val="FFFFFF"/>
                </a:solidFill>
                <a:latin typeface="Arimo"/>
                <a:ea typeface="Arimo"/>
                <a:cs typeface="Arimo"/>
                <a:sym typeface="Arimo"/>
              </a:rPr>
              <a:t>Choose Application Gateway when:</a:t>
            </a:r>
          </a:p>
          <a:p>
            <a:pPr marL="0" lvl="0" indent="0" algn="l">
              <a:lnSpc>
                <a:spcPts val="2709"/>
              </a:lnSpc>
              <a:spcBef>
                <a:spcPct val="0"/>
              </a:spcBef>
            </a:pPr>
            <a:endParaRPr lang="en-US" sz="3200" spc="22" dirty="0">
              <a:solidFill>
                <a:srgbClr val="FFFFFF"/>
              </a:solidFill>
              <a:latin typeface="Arimo"/>
              <a:ea typeface="Arimo"/>
              <a:cs typeface="Arimo"/>
              <a:sym typeface="Arimo"/>
            </a:endParaRPr>
          </a:p>
          <a:p>
            <a:pPr marL="0" lvl="0" indent="0" algn="l">
              <a:lnSpc>
                <a:spcPts val="2709"/>
              </a:lnSpc>
              <a:spcBef>
                <a:spcPct val="0"/>
              </a:spcBef>
            </a:pPr>
            <a:r>
              <a:rPr lang="en-US" sz="2258" spc="22" dirty="0">
                <a:solidFill>
                  <a:srgbClr val="FFFFFF"/>
                </a:solidFill>
                <a:latin typeface="Arimo"/>
                <a:ea typeface="Arimo"/>
                <a:cs typeface="Arimo"/>
                <a:sym typeface="Arimo"/>
              </a:rPr>
              <a:t>● </a:t>
            </a:r>
            <a:r>
              <a:rPr lang="en-US" sz="2400" spc="22" dirty="0">
                <a:solidFill>
                  <a:srgbClr val="FFFFFF"/>
                </a:solidFill>
                <a:latin typeface="Arimo"/>
                <a:ea typeface="Arimo"/>
                <a:cs typeface="Arimo"/>
                <a:sym typeface="Arimo"/>
              </a:rPr>
              <a:t>HTTP/HTTPS routing with URL or host-based rules is needed</a:t>
            </a:r>
          </a:p>
          <a:p>
            <a:pPr marL="0" lvl="0" indent="0" algn="l">
              <a:lnSpc>
                <a:spcPts val="2709"/>
              </a:lnSpc>
              <a:spcBef>
                <a:spcPct val="0"/>
              </a:spcBef>
            </a:pPr>
            <a:r>
              <a:rPr lang="en-US" sz="2400" spc="22" dirty="0">
                <a:solidFill>
                  <a:srgbClr val="FFFFFF"/>
                </a:solidFill>
                <a:latin typeface="Arimo"/>
                <a:ea typeface="Arimo"/>
                <a:cs typeface="Arimo"/>
                <a:sym typeface="Arimo"/>
              </a:rPr>
              <a:t>● SSL/TLS termination at the gateway is required</a:t>
            </a:r>
          </a:p>
          <a:p>
            <a:pPr marL="0" lvl="0" indent="0" algn="l">
              <a:lnSpc>
                <a:spcPts val="2709"/>
              </a:lnSpc>
              <a:spcBef>
                <a:spcPct val="0"/>
              </a:spcBef>
            </a:pPr>
            <a:r>
              <a:rPr lang="en-US" sz="2400" spc="22" dirty="0">
                <a:solidFill>
                  <a:srgbClr val="FFFFFF"/>
                </a:solidFill>
                <a:latin typeface="Arimo"/>
                <a:ea typeface="Arimo"/>
                <a:cs typeface="Arimo"/>
                <a:sym typeface="Arimo"/>
              </a:rPr>
              <a:t>● Web Application Firewall (WAF) protection is a priority</a:t>
            </a:r>
          </a:p>
          <a:p>
            <a:pPr marL="0" lvl="0" indent="0" algn="l">
              <a:lnSpc>
                <a:spcPts val="2709"/>
              </a:lnSpc>
              <a:spcBef>
                <a:spcPct val="0"/>
              </a:spcBef>
            </a:pPr>
            <a:r>
              <a:rPr lang="en-US" sz="2400" spc="22" dirty="0">
                <a:solidFill>
                  <a:srgbClr val="FFFFFF"/>
                </a:solidFill>
                <a:latin typeface="Arimo"/>
                <a:ea typeface="Arimo"/>
                <a:cs typeface="Arimo"/>
                <a:sym typeface="Arimo"/>
              </a:rPr>
              <a:t>● Cookie-based session affinity is necessary</a:t>
            </a:r>
          </a:p>
          <a:p>
            <a:pPr marL="0" lvl="0" indent="0" algn="l">
              <a:lnSpc>
                <a:spcPts val="2709"/>
              </a:lnSpc>
              <a:spcBef>
                <a:spcPct val="0"/>
              </a:spcBef>
            </a:pPr>
            <a:r>
              <a:rPr lang="en-US" sz="2400" spc="22" dirty="0">
                <a:solidFill>
                  <a:srgbClr val="FFFFFF"/>
                </a:solidFill>
                <a:latin typeface="Arimo"/>
                <a:ea typeface="Arimo"/>
                <a:cs typeface="Arimo"/>
                <a:sym typeface="Arimo"/>
              </a:rPr>
              <a:t>● Multi-site hosting or microservices routing is involved</a:t>
            </a:r>
          </a:p>
        </p:txBody>
      </p:sp>
      <p:grpSp>
        <p:nvGrpSpPr>
          <p:cNvPr id="21" name="Group 21"/>
          <p:cNvGrpSpPr/>
          <p:nvPr/>
        </p:nvGrpSpPr>
        <p:grpSpPr>
          <a:xfrm>
            <a:off x="16259067" y="9197765"/>
            <a:ext cx="121069" cy="12106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23" name="TextBox 23"/>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grpSp>
        <p:nvGrpSpPr>
          <p:cNvPr id="24" name="Group 24"/>
          <p:cNvGrpSpPr/>
          <p:nvPr/>
        </p:nvGrpSpPr>
        <p:grpSpPr>
          <a:xfrm>
            <a:off x="1907864" y="968165"/>
            <a:ext cx="121069" cy="12106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26" name="TextBox 26"/>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cxnSp>
        <p:nvCxnSpPr>
          <p:cNvPr id="14" name="Straight Connector 13">
            <a:extLst>
              <a:ext uri="{FF2B5EF4-FFF2-40B4-BE49-F238E27FC236}">
                <a16:creationId xmlns:a16="http://schemas.microsoft.com/office/drawing/2014/main" id="{FC410E21-6EA9-AE39-9017-61FCB5137F15}"/>
              </a:ext>
            </a:extLst>
          </p:cNvPr>
          <p:cNvCxnSpPr/>
          <p:nvPr/>
        </p:nvCxnSpPr>
        <p:spPr>
          <a:xfrm>
            <a:off x="9296400" y="3543300"/>
            <a:ext cx="0" cy="47244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8888" b="-88888"/>
            </a:stretch>
          </a:blipFill>
        </p:spPr>
      </p:sp>
      <p:sp>
        <p:nvSpPr>
          <p:cNvPr id="3" name="Freeform 3"/>
          <p:cNvSpPr/>
          <p:nvPr/>
        </p:nvSpPr>
        <p:spPr>
          <a:xfrm flipV="1">
            <a:off x="-325158" y="7079335"/>
            <a:ext cx="18938317" cy="9779058"/>
          </a:xfrm>
          <a:custGeom>
            <a:avLst/>
            <a:gdLst/>
            <a:ahLst/>
            <a:cxnLst/>
            <a:rect l="l" t="t" r="r" b="b"/>
            <a:pathLst>
              <a:path w="18938317" h="9779058">
                <a:moveTo>
                  <a:pt x="0" y="9779058"/>
                </a:moveTo>
                <a:lnTo>
                  <a:pt x="18938316" y="9779058"/>
                </a:lnTo>
                <a:lnTo>
                  <a:pt x="18938316" y="0"/>
                </a:lnTo>
                <a:lnTo>
                  <a:pt x="0" y="0"/>
                </a:lnTo>
                <a:lnTo>
                  <a:pt x="0" y="9779058"/>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325158" y="-6571393"/>
            <a:ext cx="18938317" cy="9779058"/>
          </a:xfrm>
          <a:custGeom>
            <a:avLst/>
            <a:gdLst/>
            <a:ahLst/>
            <a:cxnLst/>
            <a:rect l="l" t="t" r="r" b="b"/>
            <a:pathLst>
              <a:path w="18938317" h="9779058">
                <a:moveTo>
                  <a:pt x="0" y="0"/>
                </a:moveTo>
                <a:lnTo>
                  <a:pt x="18938316" y="0"/>
                </a:lnTo>
                <a:lnTo>
                  <a:pt x="18938316" y="9779058"/>
                </a:lnTo>
                <a:lnTo>
                  <a:pt x="0" y="97790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6540620" y="2675354"/>
            <a:ext cx="1207047" cy="7200900"/>
          </a:xfrm>
          <a:custGeom>
            <a:avLst/>
            <a:gdLst/>
            <a:ahLst/>
            <a:cxnLst/>
            <a:rect l="l" t="t" r="r" b="b"/>
            <a:pathLst>
              <a:path w="1207047" h="7200900">
                <a:moveTo>
                  <a:pt x="0" y="0"/>
                </a:moveTo>
                <a:lnTo>
                  <a:pt x="1207048" y="0"/>
                </a:lnTo>
                <a:lnTo>
                  <a:pt x="1207048" y="7200900"/>
                </a:lnTo>
                <a:lnTo>
                  <a:pt x="0" y="72009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40332" y="410746"/>
            <a:ext cx="1207047" cy="7200900"/>
          </a:xfrm>
          <a:custGeom>
            <a:avLst/>
            <a:gdLst/>
            <a:ahLst/>
            <a:cxnLst/>
            <a:rect l="l" t="t" r="r" b="b"/>
            <a:pathLst>
              <a:path w="1207047" h="7200900">
                <a:moveTo>
                  <a:pt x="1207048" y="7200900"/>
                </a:moveTo>
                <a:lnTo>
                  <a:pt x="0" y="7200900"/>
                </a:lnTo>
                <a:lnTo>
                  <a:pt x="0" y="0"/>
                </a:lnTo>
                <a:lnTo>
                  <a:pt x="1207048" y="0"/>
                </a:lnTo>
                <a:lnTo>
                  <a:pt x="1207048" y="72009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540332" y="8946022"/>
            <a:ext cx="7315200" cy="624556"/>
          </a:xfrm>
          <a:custGeom>
            <a:avLst/>
            <a:gdLst/>
            <a:ahLst/>
            <a:cxnLst/>
            <a:rect l="l" t="t" r="r" b="b"/>
            <a:pathLst>
              <a:path w="7315200" h="624556">
                <a:moveTo>
                  <a:pt x="0" y="0"/>
                </a:moveTo>
                <a:lnTo>
                  <a:pt x="7315200" y="0"/>
                </a:lnTo>
                <a:lnTo>
                  <a:pt x="7315200" y="624556"/>
                </a:lnTo>
                <a:lnTo>
                  <a:pt x="0" y="62455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flipH="1">
            <a:off x="10432468" y="716422"/>
            <a:ext cx="7315200" cy="624556"/>
          </a:xfrm>
          <a:custGeom>
            <a:avLst/>
            <a:gdLst/>
            <a:ahLst/>
            <a:cxnLst/>
            <a:rect l="l" t="t" r="r" b="b"/>
            <a:pathLst>
              <a:path w="7315200" h="624556">
                <a:moveTo>
                  <a:pt x="7315200" y="0"/>
                </a:moveTo>
                <a:lnTo>
                  <a:pt x="0" y="0"/>
                </a:lnTo>
                <a:lnTo>
                  <a:pt x="0" y="624556"/>
                </a:lnTo>
                <a:lnTo>
                  <a:pt x="7315200" y="624556"/>
                </a:lnTo>
                <a:lnTo>
                  <a:pt x="731520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AutoShape 9"/>
          <p:cNvSpPr/>
          <p:nvPr/>
        </p:nvSpPr>
        <p:spPr>
          <a:xfrm flipV="1">
            <a:off x="1968398" y="1028700"/>
            <a:ext cx="9412889" cy="0"/>
          </a:xfrm>
          <a:prstGeom prst="line">
            <a:avLst/>
          </a:prstGeom>
          <a:ln w="19050" cap="flat">
            <a:solidFill>
              <a:srgbClr val="86EDFF"/>
            </a:solidFill>
            <a:prstDash val="solid"/>
            <a:headEnd type="none" w="sm" len="sm"/>
            <a:tailEnd type="none" w="sm" len="sm"/>
          </a:ln>
        </p:spPr>
      </p:sp>
      <p:sp>
        <p:nvSpPr>
          <p:cNvPr id="10" name="AutoShape 10"/>
          <p:cNvSpPr/>
          <p:nvPr/>
        </p:nvSpPr>
        <p:spPr>
          <a:xfrm>
            <a:off x="6906713" y="9258300"/>
            <a:ext cx="9412889" cy="0"/>
          </a:xfrm>
          <a:prstGeom prst="line">
            <a:avLst/>
          </a:prstGeom>
          <a:ln w="19050" cap="flat">
            <a:solidFill>
              <a:srgbClr val="86EDFF"/>
            </a:solidFill>
            <a:prstDash val="solid"/>
            <a:headEnd type="none" w="sm" len="sm"/>
            <a:tailEnd type="none" w="sm" len="sm"/>
          </a:ln>
        </p:spPr>
      </p:sp>
      <p:sp>
        <p:nvSpPr>
          <p:cNvPr id="11" name="TextBox 11"/>
          <p:cNvSpPr txBox="1"/>
          <p:nvPr/>
        </p:nvSpPr>
        <p:spPr>
          <a:xfrm>
            <a:off x="3599021" y="2152777"/>
            <a:ext cx="11089959" cy="969724"/>
          </a:xfrm>
          <a:prstGeom prst="rect">
            <a:avLst/>
          </a:prstGeom>
        </p:spPr>
        <p:txBody>
          <a:bodyPr lIns="0" tIns="0" rIns="0" bIns="0" rtlCol="0" anchor="t">
            <a:spAutoFit/>
          </a:bodyPr>
          <a:lstStyle/>
          <a:p>
            <a:pPr marL="0" lvl="0" indent="0" algn="ctr">
              <a:lnSpc>
                <a:spcPts val="7640"/>
              </a:lnSpc>
              <a:spcBef>
                <a:spcPct val="0"/>
              </a:spcBef>
            </a:pPr>
            <a:r>
              <a:rPr lang="en-US" sz="6366" b="1" spc="191">
                <a:solidFill>
                  <a:srgbClr val="FFFFFF"/>
                </a:solidFill>
                <a:latin typeface="Assistant Bold"/>
                <a:ea typeface="Assistant Bold"/>
                <a:cs typeface="Assistant Bold"/>
                <a:sym typeface="Assistant Bold"/>
              </a:rPr>
              <a:t>FINAL DECISION FRAMEWORK</a:t>
            </a:r>
          </a:p>
        </p:txBody>
      </p:sp>
      <p:sp>
        <p:nvSpPr>
          <p:cNvPr id="15" name="TextBox 15"/>
          <p:cNvSpPr txBox="1"/>
          <p:nvPr/>
        </p:nvSpPr>
        <p:spPr>
          <a:xfrm>
            <a:off x="3807558" y="3487792"/>
            <a:ext cx="11098852" cy="1785104"/>
          </a:xfrm>
          <a:prstGeom prst="rect">
            <a:avLst/>
          </a:prstGeom>
        </p:spPr>
        <p:txBody>
          <a:bodyPr lIns="0" tIns="0" rIns="0" bIns="0" rtlCol="0" anchor="t">
            <a:spAutoFit/>
          </a:bodyPr>
          <a:lstStyle/>
          <a:p>
            <a:pPr lvl="0">
              <a:spcBef>
                <a:spcPct val="0"/>
              </a:spcBef>
            </a:pPr>
            <a:r>
              <a:rPr lang="en-IN" sz="3200" b="1" dirty="0">
                <a:solidFill>
                  <a:schemeClr val="bg2"/>
                </a:solidFill>
              </a:rPr>
              <a:t>Protocol &amp; Routing: </a:t>
            </a:r>
            <a:r>
              <a:rPr lang="en-IN" sz="2800" dirty="0">
                <a:solidFill>
                  <a:schemeClr val="bg2"/>
                </a:solidFill>
              </a:rPr>
              <a:t>Choose Azure Load Balancer for high-throughput Layer 4 TCP/UDP traffic requiring fast, low-latency distribution. Choose Azure Application Gateway for Layer 7 HTTP/HTTPS routing with URL-based rules, host headers, and path-based traffic steering across backend pools.</a:t>
            </a:r>
            <a:endParaRPr lang="en-US" sz="2800" spc="23" dirty="0">
              <a:solidFill>
                <a:schemeClr val="bg2"/>
              </a:solidFill>
              <a:latin typeface="Arimo"/>
              <a:ea typeface="Arimo"/>
              <a:cs typeface="Arimo"/>
              <a:sym typeface="Arimo"/>
            </a:endParaRPr>
          </a:p>
        </p:txBody>
      </p:sp>
      <p:sp>
        <p:nvSpPr>
          <p:cNvPr id="19" name="TextBox 19"/>
          <p:cNvSpPr txBox="1"/>
          <p:nvPr/>
        </p:nvSpPr>
        <p:spPr>
          <a:xfrm>
            <a:off x="3871529" y="5848732"/>
            <a:ext cx="11098852" cy="2646878"/>
          </a:xfrm>
          <a:prstGeom prst="rect">
            <a:avLst/>
          </a:prstGeom>
        </p:spPr>
        <p:txBody>
          <a:bodyPr lIns="0" tIns="0" rIns="0" bIns="0" rtlCol="0" anchor="t">
            <a:spAutoFit/>
          </a:bodyPr>
          <a:lstStyle/>
          <a:p>
            <a:pPr lvl="0">
              <a:spcBef>
                <a:spcPct val="0"/>
              </a:spcBef>
            </a:pPr>
            <a:r>
              <a:rPr lang="en-IN" sz="3200" b="1" dirty="0">
                <a:solidFill>
                  <a:schemeClr val="bg2"/>
                </a:solidFill>
              </a:rPr>
              <a:t>Security, Performance &amp; Budget: </a:t>
            </a:r>
            <a:r>
              <a:rPr lang="en-IN" sz="2800" dirty="0">
                <a:solidFill>
                  <a:schemeClr val="bg2"/>
                </a:solidFill>
              </a:rPr>
              <a:t>Application Gateway provides SSL/TLS termination and optional WAF for application-layer protection. Load Balancer offers lower cost and higher raw throughput. Use both together when layered network and application-level security is required. Final decision depends on protocol, routing needs, security requirements, performance targets, and project budget.</a:t>
            </a:r>
            <a:endParaRPr lang="en-US" sz="2800" spc="23" dirty="0">
              <a:solidFill>
                <a:schemeClr val="bg2"/>
              </a:solidFill>
              <a:latin typeface="Arimo"/>
              <a:ea typeface="Arimo"/>
              <a:cs typeface="Arimo"/>
              <a:sym typeface="Arimo"/>
            </a:endParaRPr>
          </a:p>
        </p:txBody>
      </p:sp>
      <p:grpSp>
        <p:nvGrpSpPr>
          <p:cNvPr id="21" name="Group 21"/>
          <p:cNvGrpSpPr/>
          <p:nvPr/>
        </p:nvGrpSpPr>
        <p:grpSpPr>
          <a:xfrm>
            <a:off x="16259067" y="9197765"/>
            <a:ext cx="121069" cy="12106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23" name="TextBox 23"/>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grpSp>
        <p:nvGrpSpPr>
          <p:cNvPr id="24" name="Group 24"/>
          <p:cNvGrpSpPr/>
          <p:nvPr/>
        </p:nvGrpSpPr>
        <p:grpSpPr>
          <a:xfrm>
            <a:off x="1907864" y="968165"/>
            <a:ext cx="121069" cy="12106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26" name="TextBox 26"/>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grpSp>
        <p:nvGrpSpPr>
          <p:cNvPr id="27" name="Group 27"/>
          <p:cNvGrpSpPr/>
          <p:nvPr/>
        </p:nvGrpSpPr>
        <p:grpSpPr>
          <a:xfrm>
            <a:off x="3439812" y="5952483"/>
            <a:ext cx="244045" cy="244045"/>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1558"/>
            </a:solidFill>
          </p:spPr>
        </p:sp>
        <p:sp>
          <p:nvSpPr>
            <p:cNvPr id="29" name="TextBox 29"/>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8888" b="-88888"/>
            </a:stretch>
          </a:blipFill>
        </p:spPr>
        <p:txBody>
          <a:bodyPr/>
          <a:lstStyle/>
          <a:p>
            <a:endParaRPr lang="en-IN"/>
          </a:p>
        </p:txBody>
      </p:sp>
      <p:sp>
        <p:nvSpPr>
          <p:cNvPr id="3" name="Freeform 3"/>
          <p:cNvSpPr/>
          <p:nvPr/>
        </p:nvSpPr>
        <p:spPr>
          <a:xfrm flipV="1">
            <a:off x="-325158" y="7079335"/>
            <a:ext cx="18938317" cy="9779058"/>
          </a:xfrm>
          <a:custGeom>
            <a:avLst/>
            <a:gdLst/>
            <a:ahLst/>
            <a:cxnLst/>
            <a:rect l="l" t="t" r="r" b="b"/>
            <a:pathLst>
              <a:path w="18938317" h="9779058">
                <a:moveTo>
                  <a:pt x="0" y="9779058"/>
                </a:moveTo>
                <a:lnTo>
                  <a:pt x="18938316" y="9779058"/>
                </a:lnTo>
                <a:lnTo>
                  <a:pt x="18938316" y="0"/>
                </a:lnTo>
                <a:lnTo>
                  <a:pt x="0" y="0"/>
                </a:lnTo>
                <a:lnTo>
                  <a:pt x="0" y="9779058"/>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325158" y="-6571393"/>
            <a:ext cx="18938317" cy="9779058"/>
          </a:xfrm>
          <a:custGeom>
            <a:avLst/>
            <a:gdLst/>
            <a:ahLst/>
            <a:cxnLst/>
            <a:rect l="l" t="t" r="r" b="b"/>
            <a:pathLst>
              <a:path w="18938317" h="9779058">
                <a:moveTo>
                  <a:pt x="0" y="0"/>
                </a:moveTo>
                <a:lnTo>
                  <a:pt x="18938316" y="0"/>
                </a:lnTo>
                <a:lnTo>
                  <a:pt x="18938316" y="9779058"/>
                </a:lnTo>
                <a:lnTo>
                  <a:pt x="0" y="977905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6540620" y="2675354"/>
            <a:ext cx="1207047" cy="7200900"/>
          </a:xfrm>
          <a:custGeom>
            <a:avLst/>
            <a:gdLst/>
            <a:ahLst/>
            <a:cxnLst/>
            <a:rect l="l" t="t" r="r" b="b"/>
            <a:pathLst>
              <a:path w="1207047" h="7200900">
                <a:moveTo>
                  <a:pt x="0" y="0"/>
                </a:moveTo>
                <a:lnTo>
                  <a:pt x="1207048" y="0"/>
                </a:lnTo>
                <a:lnTo>
                  <a:pt x="1207048" y="7200900"/>
                </a:lnTo>
                <a:lnTo>
                  <a:pt x="0" y="72009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40332" y="410746"/>
            <a:ext cx="1207047" cy="7200900"/>
          </a:xfrm>
          <a:custGeom>
            <a:avLst/>
            <a:gdLst/>
            <a:ahLst/>
            <a:cxnLst/>
            <a:rect l="l" t="t" r="r" b="b"/>
            <a:pathLst>
              <a:path w="1207047" h="7200900">
                <a:moveTo>
                  <a:pt x="1207048" y="7200900"/>
                </a:moveTo>
                <a:lnTo>
                  <a:pt x="0" y="7200900"/>
                </a:lnTo>
                <a:lnTo>
                  <a:pt x="0" y="0"/>
                </a:lnTo>
                <a:lnTo>
                  <a:pt x="1207048" y="0"/>
                </a:lnTo>
                <a:lnTo>
                  <a:pt x="1207048" y="72009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540332" y="8946022"/>
            <a:ext cx="7315200" cy="624556"/>
          </a:xfrm>
          <a:custGeom>
            <a:avLst/>
            <a:gdLst/>
            <a:ahLst/>
            <a:cxnLst/>
            <a:rect l="l" t="t" r="r" b="b"/>
            <a:pathLst>
              <a:path w="7315200" h="624556">
                <a:moveTo>
                  <a:pt x="0" y="0"/>
                </a:moveTo>
                <a:lnTo>
                  <a:pt x="7315200" y="0"/>
                </a:lnTo>
                <a:lnTo>
                  <a:pt x="7315200" y="624556"/>
                </a:lnTo>
                <a:lnTo>
                  <a:pt x="0" y="62455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flipH="1">
            <a:off x="10432468" y="716422"/>
            <a:ext cx="7315200" cy="624556"/>
          </a:xfrm>
          <a:custGeom>
            <a:avLst/>
            <a:gdLst/>
            <a:ahLst/>
            <a:cxnLst/>
            <a:rect l="l" t="t" r="r" b="b"/>
            <a:pathLst>
              <a:path w="7315200" h="624556">
                <a:moveTo>
                  <a:pt x="7315200" y="0"/>
                </a:moveTo>
                <a:lnTo>
                  <a:pt x="0" y="0"/>
                </a:lnTo>
                <a:lnTo>
                  <a:pt x="0" y="624556"/>
                </a:lnTo>
                <a:lnTo>
                  <a:pt x="7315200" y="624556"/>
                </a:lnTo>
                <a:lnTo>
                  <a:pt x="731520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AutoShape 9"/>
          <p:cNvSpPr/>
          <p:nvPr/>
        </p:nvSpPr>
        <p:spPr>
          <a:xfrm flipV="1">
            <a:off x="1968398" y="1028700"/>
            <a:ext cx="9412889" cy="0"/>
          </a:xfrm>
          <a:prstGeom prst="line">
            <a:avLst/>
          </a:prstGeom>
          <a:ln w="19050" cap="flat">
            <a:solidFill>
              <a:srgbClr val="86EDFF"/>
            </a:solidFill>
            <a:prstDash val="solid"/>
            <a:headEnd type="none" w="sm" len="sm"/>
            <a:tailEnd type="none" w="sm" len="sm"/>
          </a:ln>
        </p:spPr>
      </p:sp>
      <p:sp>
        <p:nvSpPr>
          <p:cNvPr id="10" name="AutoShape 10"/>
          <p:cNvSpPr/>
          <p:nvPr/>
        </p:nvSpPr>
        <p:spPr>
          <a:xfrm>
            <a:off x="6906713" y="9258300"/>
            <a:ext cx="9412889" cy="0"/>
          </a:xfrm>
          <a:prstGeom prst="line">
            <a:avLst/>
          </a:prstGeom>
          <a:ln w="19050" cap="flat">
            <a:solidFill>
              <a:srgbClr val="86EDFF"/>
            </a:solidFill>
            <a:prstDash val="solid"/>
            <a:headEnd type="none" w="sm" len="sm"/>
            <a:tailEnd type="none" w="sm" len="sm"/>
          </a:ln>
        </p:spPr>
      </p:sp>
      <p:sp>
        <p:nvSpPr>
          <p:cNvPr id="11" name="TextBox 11"/>
          <p:cNvSpPr txBox="1"/>
          <p:nvPr/>
        </p:nvSpPr>
        <p:spPr>
          <a:xfrm>
            <a:off x="3277720" y="1677191"/>
            <a:ext cx="11089959" cy="936053"/>
          </a:xfrm>
          <a:prstGeom prst="rect">
            <a:avLst/>
          </a:prstGeom>
        </p:spPr>
        <p:txBody>
          <a:bodyPr lIns="0" tIns="0" rIns="0" bIns="0" rtlCol="0" anchor="t">
            <a:spAutoFit/>
          </a:bodyPr>
          <a:lstStyle/>
          <a:p>
            <a:pPr marL="0" lvl="0" indent="0" algn="ctr">
              <a:lnSpc>
                <a:spcPts val="7376"/>
              </a:lnSpc>
              <a:spcBef>
                <a:spcPct val="0"/>
              </a:spcBef>
            </a:pPr>
            <a:r>
              <a:rPr lang="en-US" sz="6147" b="1" spc="184" dirty="0">
                <a:solidFill>
                  <a:srgbClr val="FFFFFF"/>
                </a:solidFill>
                <a:latin typeface="Assistant Bold"/>
                <a:ea typeface="Assistant Bold"/>
                <a:cs typeface="Assistant Bold"/>
                <a:sym typeface="Assistant Bold"/>
              </a:rPr>
              <a:t>KEY TAKEAWAYS </a:t>
            </a:r>
          </a:p>
        </p:txBody>
      </p:sp>
      <p:sp>
        <p:nvSpPr>
          <p:cNvPr id="12" name="TextBox 12"/>
          <p:cNvSpPr txBox="1"/>
          <p:nvPr/>
        </p:nvSpPr>
        <p:spPr>
          <a:xfrm>
            <a:off x="2172941" y="3264403"/>
            <a:ext cx="12194738" cy="4431983"/>
          </a:xfrm>
          <a:prstGeom prst="rect">
            <a:avLst/>
          </a:prstGeom>
        </p:spPr>
        <p:txBody>
          <a:bodyPr wrap="square" lIns="0" tIns="0" rIns="0" bIns="0" rtlCol="0" anchor="t">
            <a:spAutoFit/>
          </a:bodyPr>
          <a:lstStyle/>
          <a:p>
            <a:r>
              <a:rPr lang="en-IN" sz="3200" dirty="0">
                <a:solidFill>
                  <a:schemeClr val="bg2"/>
                </a:solidFill>
              </a:rPr>
              <a:t>• Choose Azure Load Balancer for high-throughput Layer 4 TCP/UDP traffic requiring speed and simplicity.</a:t>
            </a:r>
          </a:p>
          <a:p>
            <a:r>
              <a:rPr lang="en-IN" sz="3200" dirty="0">
                <a:solidFill>
                  <a:schemeClr val="bg2"/>
                </a:solidFill>
              </a:rPr>
              <a:t>• Choose Azure Application Gateway for Layer 7 HTTP/HTTPS routing, SSL/TLS termination, and WAF protection.</a:t>
            </a:r>
          </a:p>
          <a:p>
            <a:r>
              <a:rPr lang="en-IN" sz="3200" dirty="0">
                <a:solidFill>
                  <a:schemeClr val="bg2"/>
                </a:solidFill>
              </a:rPr>
              <a:t>• Use both together when a project requires layered network and application-level security.</a:t>
            </a:r>
          </a:p>
          <a:p>
            <a:r>
              <a:rPr lang="en-IN" sz="3200" dirty="0">
                <a:solidFill>
                  <a:schemeClr val="bg2"/>
                </a:solidFill>
              </a:rPr>
              <a:t>• The final decision depends on protocol needs, routing complexity, security requirements, performance targets, and budget.</a:t>
            </a:r>
          </a:p>
          <a:p>
            <a:r>
              <a:rPr lang="en-IN" sz="3200" dirty="0">
                <a:solidFill>
                  <a:schemeClr val="bg2"/>
                </a:solidFill>
              </a:rPr>
              <a:t>Thank You | Questions?</a:t>
            </a:r>
          </a:p>
        </p:txBody>
      </p:sp>
      <p:grpSp>
        <p:nvGrpSpPr>
          <p:cNvPr id="14" name="Group 14"/>
          <p:cNvGrpSpPr/>
          <p:nvPr/>
        </p:nvGrpSpPr>
        <p:grpSpPr>
          <a:xfrm>
            <a:off x="16259067" y="9197765"/>
            <a:ext cx="121069" cy="12106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16" name="TextBox 16"/>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grpSp>
        <p:nvGrpSpPr>
          <p:cNvPr id="17" name="Group 17"/>
          <p:cNvGrpSpPr/>
          <p:nvPr/>
        </p:nvGrpSpPr>
        <p:grpSpPr>
          <a:xfrm>
            <a:off x="1907864" y="968165"/>
            <a:ext cx="121069" cy="121069"/>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19" name="TextBox 19"/>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6491"/>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8888" b="-88888"/>
            </a:stretch>
          </a:blipFill>
        </p:spPr>
      </p:sp>
      <p:sp>
        <p:nvSpPr>
          <p:cNvPr id="3" name="Freeform 3"/>
          <p:cNvSpPr/>
          <p:nvPr/>
        </p:nvSpPr>
        <p:spPr>
          <a:xfrm flipV="1">
            <a:off x="-325158" y="7079335"/>
            <a:ext cx="18938317" cy="9779058"/>
          </a:xfrm>
          <a:custGeom>
            <a:avLst/>
            <a:gdLst/>
            <a:ahLst/>
            <a:cxnLst/>
            <a:rect l="l" t="t" r="r" b="b"/>
            <a:pathLst>
              <a:path w="18938317" h="9779058">
                <a:moveTo>
                  <a:pt x="0" y="9779058"/>
                </a:moveTo>
                <a:lnTo>
                  <a:pt x="18938316" y="9779058"/>
                </a:lnTo>
                <a:lnTo>
                  <a:pt x="18938316" y="0"/>
                </a:lnTo>
                <a:lnTo>
                  <a:pt x="0" y="0"/>
                </a:lnTo>
                <a:lnTo>
                  <a:pt x="0" y="9779058"/>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325158" y="-6571393"/>
            <a:ext cx="18938317" cy="9779058"/>
          </a:xfrm>
          <a:custGeom>
            <a:avLst/>
            <a:gdLst/>
            <a:ahLst/>
            <a:cxnLst/>
            <a:rect l="l" t="t" r="r" b="b"/>
            <a:pathLst>
              <a:path w="18938317" h="9779058">
                <a:moveTo>
                  <a:pt x="0" y="0"/>
                </a:moveTo>
                <a:lnTo>
                  <a:pt x="18938316" y="0"/>
                </a:lnTo>
                <a:lnTo>
                  <a:pt x="18938316" y="9779058"/>
                </a:lnTo>
                <a:lnTo>
                  <a:pt x="0" y="977905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6540620" y="2675354"/>
            <a:ext cx="1207047" cy="7200900"/>
          </a:xfrm>
          <a:custGeom>
            <a:avLst/>
            <a:gdLst/>
            <a:ahLst/>
            <a:cxnLst/>
            <a:rect l="l" t="t" r="r" b="b"/>
            <a:pathLst>
              <a:path w="1207047" h="7200900">
                <a:moveTo>
                  <a:pt x="0" y="0"/>
                </a:moveTo>
                <a:lnTo>
                  <a:pt x="1207048" y="0"/>
                </a:lnTo>
                <a:lnTo>
                  <a:pt x="1207048" y="7200900"/>
                </a:lnTo>
                <a:lnTo>
                  <a:pt x="0" y="72009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40332" y="410746"/>
            <a:ext cx="1207047" cy="7200900"/>
          </a:xfrm>
          <a:custGeom>
            <a:avLst/>
            <a:gdLst/>
            <a:ahLst/>
            <a:cxnLst/>
            <a:rect l="l" t="t" r="r" b="b"/>
            <a:pathLst>
              <a:path w="1207047" h="7200900">
                <a:moveTo>
                  <a:pt x="1207048" y="7200900"/>
                </a:moveTo>
                <a:lnTo>
                  <a:pt x="0" y="7200900"/>
                </a:lnTo>
                <a:lnTo>
                  <a:pt x="0" y="0"/>
                </a:lnTo>
                <a:lnTo>
                  <a:pt x="1207048" y="0"/>
                </a:lnTo>
                <a:lnTo>
                  <a:pt x="1207048" y="72009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540332" y="8946022"/>
            <a:ext cx="7315200" cy="624556"/>
          </a:xfrm>
          <a:custGeom>
            <a:avLst/>
            <a:gdLst/>
            <a:ahLst/>
            <a:cxnLst/>
            <a:rect l="l" t="t" r="r" b="b"/>
            <a:pathLst>
              <a:path w="7315200" h="624556">
                <a:moveTo>
                  <a:pt x="0" y="0"/>
                </a:moveTo>
                <a:lnTo>
                  <a:pt x="7315200" y="0"/>
                </a:lnTo>
                <a:lnTo>
                  <a:pt x="7315200" y="624556"/>
                </a:lnTo>
                <a:lnTo>
                  <a:pt x="0" y="62455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flipH="1">
            <a:off x="10432468" y="716422"/>
            <a:ext cx="7315200" cy="624556"/>
          </a:xfrm>
          <a:custGeom>
            <a:avLst/>
            <a:gdLst/>
            <a:ahLst/>
            <a:cxnLst/>
            <a:rect l="l" t="t" r="r" b="b"/>
            <a:pathLst>
              <a:path w="7315200" h="624556">
                <a:moveTo>
                  <a:pt x="7315200" y="0"/>
                </a:moveTo>
                <a:lnTo>
                  <a:pt x="0" y="0"/>
                </a:lnTo>
                <a:lnTo>
                  <a:pt x="0" y="624556"/>
                </a:lnTo>
                <a:lnTo>
                  <a:pt x="7315200" y="624556"/>
                </a:lnTo>
                <a:lnTo>
                  <a:pt x="731520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AutoShape 9"/>
          <p:cNvSpPr/>
          <p:nvPr/>
        </p:nvSpPr>
        <p:spPr>
          <a:xfrm flipV="1">
            <a:off x="1968398" y="1028700"/>
            <a:ext cx="9412889" cy="0"/>
          </a:xfrm>
          <a:prstGeom prst="line">
            <a:avLst/>
          </a:prstGeom>
          <a:ln w="19050" cap="flat">
            <a:solidFill>
              <a:srgbClr val="86EDFF"/>
            </a:solidFill>
            <a:prstDash val="solid"/>
            <a:headEnd type="none" w="sm" len="sm"/>
            <a:tailEnd type="none" w="sm" len="sm"/>
          </a:ln>
        </p:spPr>
      </p:sp>
      <p:sp>
        <p:nvSpPr>
          <p:cNvPr id="10" name="AutoShape 10"/>
          <p:cNvSpPr/>
          <p:nvPr/>
        </p:nvSpPr>
        <p:spPr>
          <a:xfrm>
            <a:off x="6906713" y="9258300"/>
            <a:ext cx="9412889" cy="0"/>
          </a:xfrm>
          <a:prstGeom prst="line">
            <a:avLst/>
          </a:prstGeom>
          <a:ln w="19050" cap="flat">
            <a:solidFill>
              <a:srgbClr val="86EDFF"/>
            </a:solidFill>
            <a:prstDash val="solid"/>
            <a:headEnd type="none" w="sm" len="sm"/>
            <a:tailEnd type="none" w="sm" len="sm"/>
          </a:ln>
        </p:spPr>
      </p:sp>
      <p:sp>
        <p:nvSpPr>
          <p:cNvPr id="12" name="TextBox 12"/>
          <p:cNvSpPr txBox="1"/>
          <p:nvPr/>
        </p:nvSpPr>
        <p:spPr>
          <a:xfrm>
            <a:off x="3491788" y="3258269"/>
            <a:ext cx="10986212" cy="2212850"/>
          </a:xfrm>
          <a:prstGeom prst="rect">
            <a:avLst/>
          </a:prstGeom>
        </p:spPr>
        <p:txBody>
          <a:bodyPr wrap="square" lIns="0" tIns="0" rIns="0" bIns="0" rtlCol="0" anchor="t">
            <a:spAutoFit/>
          </a:bodyPr>
          <a:lstStyle/>
          <a:p>
            <a:pPr marL="0" lvl="0" indent="0" algn="ctr">
              <a:lnSpc>
                <a:spcPts val="17799"/>
              </a:lnSpc>
              <a:spcBef>
                <a:spcPct val="0"/>
              </a:spcBef>
            </a:pPr>
            <a:r>
              <a:rPr lang="en-US" sz="14832" b="1" spc="444" dirty="0">
                <a:solidFill>
                  <a:srgbClr val="FFFFFF"/>
                </a:solidFill>
                <a:latin typeface="Assistant Bold"/>
                <a:ea typeface="Assistant Bold"/>
                <a:cs typeface="Assistant Bold"/>
                <a:sym typeface="Assistant Bold"/>
              </a:rPr>
              <a:t>THANK YOU</a:t>
            </a:r>
          </a:p>
        </p:txBody>
      </p:sp>
      <p:grpSp>
        <p:nvGrpSpPr>
          <p:cNvPr id="14" name="Group 14"/>
          <p:cNvGrpSpPr/>
          <p:nvPr/>
        </p:nvGrpSpPr>
        <p:grpSpPr>
          <a:xfrm>
            <a:off x="16259067" y="9197765"/>
            <a:ext cx="121069" cy="12106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16" name="TextBox 16"/>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grpSp>
        <p:nvGrpSpPr>
          <p:cNvPr id="17" name="Group 17"/>
          <p:cNvGrpSpPr/>
          <p:nvPr/>
        </p:nvGrpSpPr>
        <p:grpSpPr>
          <a:xfrm>
            <a:off x="1907864" y="968165"/>
            <a:ext cx="121069" cy="121069"/>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id="19" name="TextBox 19"/>
            <p:cNvSpPr txBox="1"/>
            <p:nvPr/>
          </p:nvSpPr>
          <p:spPr>
            <a:xfrm>
              <a:off x="76200" y="66675"/>
              <a:ext cx="660400" cy="669925"/>
            </a:xfrm>
            <a:prstGeom prst="rect">
              <a:avLst/>
            </a:prstGeom>
          </p:spPr>
          <p:txBody>
            <a:bodyPr lIns="50800" tIns="50800" rIns="50800" bIns="50800" rtlCol="0" anchor="ctr"/>
            <a:lstStyle/>
            <a:p>
              <a:pPr marL="0" lvl="0" indent="0" algn="ctr">
                <a:lnSpc>
                  <a:spcPts val="2526"/>
                </a:lnSpc>
              </a:pPr>
              <a:endParaRPr/>
            </a:p>
          </p:txBody>
        </p:sp>
      </p:gr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00131470.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125</TotalTime>
  <Words>1441</Words>
  <Application>Microsoft Office PowerPoint</Application>
  <PresentationFormat>Custom</PresentationFormat>
  <Paragraphs>135</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Calibri</vt:lpstr>
      <vt:lpstr>Arimo</vt:lpstr>
      <vt:lpstr>Assistant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Load Balancer vs Application Gateway—Design Comparison</dc:title>
  <dc:creator>madhu marrivada</dc:creator>
  <cp:lastModifiedBy>SANDEEP PITHANI</cp:lastModifiedBy>
  <cp:revision>6</cp:revision>
  <dcterms:created xsi:type="dcterms:W3CDTF">2006-08-16T00:00:00Z</dcterms:created>
  <dcterms:modified xsi:type="dcterms:W3CDTF">2026-09-15T17:21:57Z</dcterms:modified>
  <dc:identifier>DAHT9uERsDk</dc:identifier>
</cp:coreProperties>
</file>